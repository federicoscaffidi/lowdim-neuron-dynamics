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68" r:id="rId14"/>
    <p:sldId id="269" r:id="rId15"/>
  </p:sldIdLst>
  <p:sldSz cx="9144000" cy="5143500" type="screen16x9"/>
  <p:notesSz cx="6858000" cy="9144000"/>
  <p:embeddedFontLst>
    <p:embeddedFont>
      <p:font typeface="Inter" panose="02000503000000020004" pitchFamily="2" charset="0"/>
      <p:regular r:id="rId17"/>
      <p:bold r:id="rId18"/>
      <p:italic r:id="rId19"/>
      <p:boldItalic r:id="rId20"/>
    </p:embeddedFont>
    <p:embeddedFont>
      <p:font typeface="Raleway" pitchFamily="2" charset="77"/>
      <p:regular r:id="rId21"/>
      <p:bold r:id="rId22"/>
      <p:italic r:id="rId23"/>
      <p:boldItalic r:id="rId24"/>
    </p:embeddedFont>
    <p:embeddedFont>
      <p:font typeface="Raleway ExtraBold" pitchFamily="2" charset="77"/>
      <p:bold r:id="rId25"/>
      <p:italic r:id="rId26"/>
      <p:boldItalic r:id="rId27"/>
    </p:embeddedFont>
    <p:embeddedFont>
      <p:font typeface="Unbounded" pitchFamily="2" charset="77"/>
      <p:regular r:id="rId28"/>
      <p:bold r:id="rId29"/>
    </p:embeddedFont>
    <p:embeddedFont>
      <p:font typeface="Unbounded Black" pitchFamily="2" charset="77"/>
      <p:bold r:id="rId30"/>
    </p:embeddedFont>
    <p:embeddedFont>
      <p:font typeface="Unbounded ExtraBold" pitchFamily="2" charset="77"/>
      <p:bold r:id="rId31"/>
    </p:embeddedFont>
    <p:embeddedFont>
      <p:font typeface="Unbounded Light" pitchFamily="2" charset="77"/>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79A7"/>
    <a:srgbClr val="D55E00"/>
    <a:srgbClr val="56B4E9"/>
    <a:srgbClr val="34D399"/>
    <a:srgbClr val="F472B6"/>
    <a:srgbClr val="60A5FA"/>
    <a:srgbClr val="2DD4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3E447C7-36CF-47F4-90E5-65D90B6470D5}">
  <a:tblStyle styleId="{F3E447C7-36CF-47F4-90E5-65D90B6470D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26"/>
    <p:restoredTop sz="95921"/>
  </p:normalViewPr>
  <p:slideViewPr>
    <p:cSldViewPr snapToGrid="0">
      <p:cViewPr varScale="1">
        <p:scale>
          <a:sx n="153" d="100"/>
          <a:sy n="153" d="100"/>
        </p:scale>
        <p:origin x="472"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21" Type="http://schemas.openxmlformats.org/officeDocument/2006/relationships/font" Target="fonts/font5.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Good morning, I am Francesca and this is our project. </a:t>
            </a:r>
            <a:r>
              <a:rPr lang="en-GB" i="1" dirty="0"/>
              <a:t>The Shape of a Stimulus.</a:t>
            </a:r>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b72724f271d8646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b72724f271d8646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A mouse watches three very different videos, and we are watching its </a:t>
            </a:r>
            <a:r>
              <a:rPr lang="en-GB" b="1" dirty="0"/>
              <a:t>brain</a:t>
            </a:r>
            <a:r>
              <a:rPr lang="en-GB" dirty="0"/>
              <a:t>.</a:t>
            </a:r>
          </a:p>
          <a:p>
            <a:r>
              <a:rPr lang="en-GB" dirty="0"/>
              <a:t>[pause]</a:t>
            </a:r>
          </a:p>
          <a:p>
            <a:r>
              <a:rPr lang="en-GB" dirty="0"/>
              <a:t>Eight thousand neurons firing at once. Recorded one by one, simultaneously, while it watches. And we asked one question.</a:t>
            </a:r>
          </a:p>
          <a:p>
            <a:r>
              <a:rPr lang="en-GB" dirty="0"/>
              <a:t>Can we see, in those neuronal patterns, </a:t>
            </a:r>
            <a:r>
              <a:rPr lang="en-GB" b="1" dirty="0"/>
              <a:t>what the mouse is seeing</a:t>
            </a:r>
            <a:r>
              <a:rPr lang="en-GB" dirty="0"/>
              <a:t>?</a:t>
            </a:r>
          </a:p>
          <a:p>
            <a:r>
              <a:rPr lang="en-GB" dirty="0"/>
              <a:t>To put it in other words: IF I handed you a snapshot of cortical activity, just a vector of numbers encoding the eight thousand neurons firing, could you tell me </a:t>
            </a:r>
            <a:r>
              <a:rPr lang="en-GB" b="1" dirty="0"/>
              <a:t>which video the mouse was watching at JUST by looking at the geometry of this space</a:t>
            </a:r>
            <a:r>
              <a:rPr lang="en-GB" dirty="0"/>
              <a:t>?</a:t>
            </a:r>
          </a:p>
          <a:p>
            <a:r>
              <a:rPr lang="en-GB" dirty="0"/>
              <a:t>That was our research question. Everything that follows is our attempt to answer it.</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b72724f271d8646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b72724f271d8646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Three videos.</a:t>
            </a:r>
          </a:p>
          <a:p>
            <a:r>
              <a:rPr lang="en-GB" dirty="0"/>
              <a:t>→ </a:t>
            </a:r>
            <a:r>
              <a:rPr lang="en-GB" i="1" dirty="0"/>
              <a:t>Gesture left.</a:t>
            </a:r>
            <a:endParaRPr lang="en-GB" dirty="0"/>
          </a:p>
          <a:p>
            <a:r>
              <a:rPr lang="en-GB" b="1" dirty="0"/>
              <a:t>CLIP</a:t>
            </a:r>
            <a:r>
              <a:rPr lang="en-GB" dirty="0"/>
              <a:t> is real-world movie footage. </a:t>
            </a:r>
          </a:p>
          <a:p>
            <a:r>
              <a:rPr lang="en-GB" dirty="0"/>
              <a:t>→ </a:t>
            </a:r>
            <a:r>
              <a:rPr lang="en-GB" i="1" dirty="0"/>
              <a:t>Gesture </a:t>
            </a:r>
            <a:r>
              <a:rPr lang="en-GB" i="1" dirty="0" err="1"/>
              <a:t>center</a:t>
            </a:r>
            <a:r>
              <a:rPr lang="en-GB" i="1" dirty="0"/>
              <a:t>.</a:t>
            </a:r>
            <a:endParaRPr lang="en-GB" dirty="0"/>
          </a:p>
          <a:p>
            <a:r>
              <a:rPr lang="en-GB" b="1" dirty="0"/>
              <a:t>MONET2</a:t>
            </a:r>
            <a:r>
              <a:rPr lang="en-GB" dirty="0"/>
              <a:t> is grey-scale textured noise. Designed to have controlled statistics, but visually — nothing.</a:t>
            </a:r>
          </a:p>
          <a:p>
            <a:r>
              <a:rPr lang="en-GB" dirty="0"/>
              <a:t>→ </a:t>
            </a:r>
            <a:r>
              <a:rPr lang="en-GB" i="1" dirty="0"/>
              <a:t>Gesture right.</a:t>
            </a:r>
            <a:endParaRPr lang="en-GB" dirty="0"/>
          </a:p>
          <a:p>
            <a:r>
              <a:rPr lang="en-GB" b="1" dirty="0"/>
              <a:t>TRIPPY</a:t>
            </a:r>
            <a:r>
              <a:rPr lang="en-GB" dirty="0"/>
              <a:t> is synthetic wave patterns. Patterns that don't exist anywhere in nature.</a:t>
            </a:r>
          </a:p>
          <a:p>
            <a:r>
              <a:rPr lang="en-GB" dirty="0"/>
              <a:t>[pause]</a:t>
            </a:r>
          </a:p>
          <a:p>
            <a:r>
              <a:rPr lang="en-GB" dirty="0"/>
              <a:t>One natural stimulus. Two synthetic ones.</a:t>
            </a:r>
          </a:p>
          <a:p>
            <a:r>
              <a:rPr lang="en-GB" dirty="0"/>
              <a:t>→ </a:t>
            </a:r>
            <a:r>
              <a:rPr lang="en-GB" i="1" dirty="0"/>
              <a:t>Slow down for the next line. This is a planted seed.</a:t>
            </a:r>
            <a:endParaRPr lang="en-GB" dirty="0"/>
          </a:p>
          <a:p>
            <a:r>
              <a:rPr lang="en-GB" dirty="0"/>
              <a:t>This is a KEY information that will LATER matter</a:t>
            </a:r>
          </a:p>
          <a:p>
            <a:r>
              <a:rPr lang="en-GB" dirty="0"/>
              <a:t>[pause]</a:t>
            </a:r>
          </a:p>
          <a:p>
            <a:r>
              <a:rPr lang="en-GB" dirty="0"/>
              <a:t>The data is from </a:t>
            </a:r>
            <a:r>
              <a:rPr lang="en-GB" b="1" dirty="0" err="1"/>
              <a:t>MICrONS</a:t>
            </a:r>
            <a:r>
              <a:rPr lang="en-GB" dirty="0"/>
              <a:t> — about eight thousand neurons recorded simultaneously across four cortical areas. V1, the primary visual cortex. Plus three higher areas — LM (Lateromedial area), RL(</a:t>
            </a:r>
            <a:r>
              <a:rPr lang="en-GB" dirty="0" err="1"/>
              <a:t>Rostrolateral</a:t>
            </a:r>
            <a:r>
              <a:rPr lang="en-GB" dirty="0"/>
              <a:t> area), and AL(Anterolateral area). </a:t>
            </a:r>
          </a:p>
          <a:p>
            <a:r>
              <a:rPr lang="en-GB" dirty="0"/>
              <a:t>We can ask each of them the same question, and see if they disagree.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b72724f271d8646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b72724f271d8646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Before any analysis, we picked only one session. One out of fourteen.</a:t>
            </a:r>
          </a:p>
          <a:p>
            <a:r>
              <a:rPr lang="en-GB" dirty="0"/>
              <a:t>The red bars on the right — those are sessions we threw out. They are outliers with a z-score greater than 2. In particular:</a:t>
            </a:r>
          </a:p>
          <a:p>
            <a:pPr lvl="1"/>
            <a:r>
              <a:rPr lang="en-GB" dirty="0"/>
              <a:t>7_4 had too many neurons compared to the others</a:t>
            </a:r>
          </a:p>
          <a:p>
            <a:pPr lvl="1"/>
            <a:r>
              <a:rPr lang="en-GB" dirty="0"/>
              <a:t>4_7 had response magnitudes were anomalously high</a:t>
            </a:r>
          </a:p>
          <a:p>
            <a:pPr lvl="1"/>
            <a:r>
              <a:rPr lang="en-GB" dirty="0"/>
              <a:t>9_6 the mouse was running far more than the others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We picked Session </a:t>
            </a:r>
            <a:r>
              <a:rPr lang="en-GB" b="1" dirty="0"/>
              <a:t>7_5</a:t>
            </a:r>
            <a:r>
              <a:rPr lang="en-GB" dirty="0"/>
              <a:t>. It sits at the median on every quality metric we measured. It recorded about eight thousand neurons across 453 trials. The three movies are interleaved.</a:t>
            </a:r>
            <a:br>
              <a:rPr lang="en-GB" dirty="0"/>
            </a:br>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NOTE: z score is how many standard deviations a value sits from the cohort average.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The metrics we used were: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b="1" dirty="0"/>
              <a:t>Neuron count</a:t>
            </a:r>
            <a:r>
              <a:rPr lang="en-GB" dirty="0"/>
              <a:t> — how many neurons were recorded in that session.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b="1" dirty="0"/>
              <a:t>Area composition</a:t>
            </a:r>
            <a:r>
              <a:rPr lang="en-GB" dirty="0"/>
              <a:t> — how those neurons were distributed across the four cortical areas (V1, LM, RL, AL).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b="1" dirty="0"/>
              <a:t>Mean activity</a:t>
            </a:r>
            <a:r>
              <a:rPr lang="en-GB" dirty="0"/>
              <a:t> — the average firing-rate magnitude across neurons.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b="1" dirty="0"/>
              <a:t>Mean pupil diameter</a:t>
            </a:r>
            <a:r>
              <a:rPr lang="en-GB" dirty="0"/>
              <a:t> — proxy for the mouse's arousal level.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b="1" dirty="0"/>
              <a:t>Mean treadmill speed</a:t>
            </a:r>
            <a:r>
              <a:rPr lang="en-GB" dirty="0"/>
              <a:t> — how much the mouse was running.</a:t>
            </a:r>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b72724f271d8646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b72724f271d8646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Three preprocessing steps.</a:t>
            </a:r>
          </a:p>
          <a:p>
            <a:r>
              <a:rPr lang="en-GB" dirty="0"/>
              <a:t>One — we filtered out trials where the mouse was running too hard, because running modulates V1.</a:t>
            </a:r>
          </a:p>
          <a:p>
            <a:r>
              <a:rPr lang="en-GB" dirty="0"/>
              <a:t>Two — we linear-detrended each trial, because the calcium signal </a:t>
            </a:r>
            <a:r>
              <a:rPr lang="en-GB" dirty="0" err="1"/>
              <a:t>photobleaches</a:t>
            </a:r>
            <a:r>
              <a:rPr lang="en-GB" dirty="0"/>
              <a:t>.</a:t>
            </a:r>
          </a:p>
          <a:p>
            <a:r>
              <a:rPr lang="en-GB" dirty="0"/>
              <a:t>Three — we z-scored each neuron, so the loudest neurons don't dominate the geometry.</a:t>
            </a:r>
          </a:p>
          <a:p>
            <a:r>
              <a:rPr lang="en-GB" dirty="0"/>
              <a:t>Standard pipeline. Now the interesting part.</a:t>
            </a:r>
          </a:p>
          <a:p>
            <a:endParaRPr lang="en-GB" dirty="0"/>
          </a:p>
          <a:p>
            <a:r>
              <a:rPr lang="en-GB" dirty="0"/>
              <a:t>LINEAR DETRENDING: means fitting a straight line to the slow decline and subtracting it, leaving only the variation around the line, which is the actual signal.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629ad6421296ce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629ad6421296ce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Experiment one.</a:t>
            </a:r>
          </a:p>
          <a:p>
            <a:r>
              <a:rPr lang="en-GB" dirty="0"/>
              <a:t>For each of the 453 trials, we collapsed time. One trial represents one mean activity vector. Then applied PCA. Here we observe the 3 principal components graph.</a:t>
            </a:r>
          </a:p>
          <a:p>
            <a:r>
              <a:rPr lang="en-GB" dirty="0"/>
              <a:t>→ </a:t>
            </a:r>
            <a:r>
              <a:rPr lang="en-GB" i="1" dirty="0"/>
              <a:t>Gesture at the scatter plot. Then turn back to the audience.</a:t>
            </a:r>
            <a:endParaRPr lang="en-GB" dirty="0"/>
          </a:p>
          <a:p>
            <a:r>
              <a:rPr lang="en-GB" dirty="0"/>
              <a:t>What do you see?</a:t>
            </a:r>
          </a:p>
          <a:p>
            <a:r>
              <a:rPr lang="en-GB" dirty="0"/>
              <a:t>[pause]</a:t>
            </a:r>
          </a:p>
          <a:p>
            <a:r>
              <a:rPr lang="en-GB" b="1" dirty="0"/>
              <a:t>Nothing.</a:t>
            </a:r>
            <a:r>
              <a:rPr lang="en-GB" dirty="0"/>
              <a:t> Three classes piled on top of each other. PCA tells us — there's no signal here.</a:t>
            </a:r>
          </a:p>
          <a:p>
            <a:r>
              <a:rPr lang="en-GB" dirty="0"/>
              <a:t>[pause]</a:t>
            </a:r>
          </a:p>
          <a:p>
            <a:r>
              <a:rPr lang="en-GB" dirty="0"/>
              <a:t>We didn't believe it.</a:t>
            </a:r>
          </a:p>
          <a:p>
            <a:r>
              <a:rPr lang="en-GB" dirty="0"/>
              <a:t>So we took those same vectors. And trained a linear classifier on them.</a:t>
            </a:r>
          </a:p>
          <a:p>
            <a:r>
              <a:rPr lang="en-GB" dirty="0"/>
              <a:t>→ </a:t>
            </a:r>
            <a:r>
              <a:rPr lang="en-GB" i="1" dirty="0"/>
              <a:t>Slow down. This is the first reversal. Land it.</a:t>
            </a:r>
            <a:endParaRPr lang="en-GB" dirty="0"/>
          </a:p>
          <a:p>
            <a:r>
              <a:rPr lang="en-GB" dirty="0"/>
              <a:t>[pause]</a:t>
            </a:r>
          </a:p>
          <a:p>
            <a:r>
              <a:rPr lang="en-GB" b="1" dirty="0"/>
              <a:t>Ninety-eight point nine percent.</a:t>
            </a:r>
            <a:endParaRPr lang="en-GB" dirty="0"/>
          </a:p>
          <a:p>
            <a:r>
              <a:rPr lang="en-GB" dirty="0"/>
              <a:t>Majority baseline is 83 percent. So this isn't trivial. The classifier is finding something real. And it works in </a:t>
            </a:r>
            <a:r>
              <a:rPr lang="en-GB" b="1" dirty="0"/>
              <a:t>every cortical area we tested</a:t>
            </a:r>
            <a:r>
              <a:rPr lang="en-GB" dirty="0"/>
              <a:t>.</a:t>
            </a:r>
          </a:p>
          <a:p>
            <a:r>
              <a:rPr lang="en-GB" dirty="0"/>
              <a:t>[pause]</a:t>
            </a:r>
          </a:p>
          <a:p>
            <a:r>
              <a:rPr lang="en-GB" dirty="0"/>
              <a:t>So what's going on? The signal is there. PCA just isn't pointed at it.</a:t>
            </a:r>
          </a:p>
          <a:p>
            <a:r>
              <a:rPr lang="en-GB" dirty="0"/>
              <a:t>What we learned through this experiment is that </a:t>
            </a:r>
            <a:r>
              <a:rPr lang="en-GB" b="1" dirty="0"/>
              <a:t>variance is not signal</a:t>
            </a:r>
            <a:r>
              <a:rPr lang="en-GB" dirty="0"/>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9ab26d7ba9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9ab26d7ba9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Experiment two builds on that observation. This time we retain the time axis.</a:t>
            </a:r>
          </a:p>
          <a:p>
            <a:r>
              <a:rPr lang="en-GB" dirty="0"/>
              <a:t>For each cortical area and each stimulus class, we averaged trials frame by frame — obtaining a trial-averaged </a:t>
            </a:r>
            <a:r>
              <a:rPr lang="en-GB" b="1" dirty="0"/>
              <a:t>trajectory</a:t>
            </a:r>
            <a:r>
              <a:rPr lang="en-GB" dirty="0"/>
              <a:t> through neural state space — and we apply PCA to these trajectories</a:t>
            </a:r>
          </a:p>
          <a:p>
            <a:r>
              <a:rPr lang="en-GB" dirty="0"/>
              <a:t>The result is on screen.</a:t>
            </a:r>
          </a:p>
          <a:p>
            <a:r>
              <a:rPr lang="en-GB" dirty="0"/>
              <a:t>→ </a:t>
            </a:r>
            <a:r>
              <a:rPr lang="en-GB" i="1" dirty="0"/>
              <a:t>Pause and let them look at the four panels.</a:t>
            </a:r>
            <a:endParaRPr lang="en-GB" dirty="0"/>
          </a:p>
          <a:p>
            <a:r>
              <a:rPr lang="en-GB" dirty="0"/>
              <a:t>[pause]</a:t>
            </a:r>
          </a:p>
          <a:p>
            <a:r>
              <a:rPr lang="en-GB" dirty="0"/>
              <a:t>In every area, the three conditions form three visibly distinct, non-overlapping regions in PC1–PC2 space. On its face, this is exactly the result we were looking for.</a:t>
            </a:r>
          </a:p>
          <a:p>
            <a:r>
              <a:rPr lang="en-GB" dirty="0"/>
              <a:t>[pause]</a:t>
            </a:r>
          </a:p>
          <a:p>
            <a:r>
              <a:rPr lang="en-GB" dirty="0"/>
              <a:t>→ </a:t>
            </a:r>
            <a:r>
              <a:rPr lang="en-GB" i="1" dirty="0"/>
              <a:t>Drop your voice slightly here. This is the methodological caveat.</a:t>
            </a:r>
            <a:endParaRPr lang="en-GB" dirty="0"/>
          </a:p>
          <a:p>
            <a:r>
              <a:rPr lang="en-GB" dirty="0"/>
              <a:t>There is, however, a concern. The principal components were fit on trial averages that already carry the class labels — the same labels we are now trying to recover. The directions of maximum variance are therefore not independent of those labels; they are partially aligned with them </a:t>
            </a:r>
            <a:r>
              <a:rPr lang="en-GB" b="1" dirty="0"/>
              <a:t>by construction</a:t>
            </a:r>
            <a:r>
              <a:rPr lang="en-GB" dirty="0"/>
              <a:t>. Before treating this apparent separation as evidence, we have to rule out that bias.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9ab26d7ba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9ab26d7ba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Here's the test. We want to know if those distances are real or just noise. So we shuffle. We mix the trial labels and recompute the distance on the nonsense data. A hundred times. That gives us a distribution of </a:t>
            </a:r>
            <a:r>
              <a:rPr lang="en-GB" i="1" dirty="0"/>
              <a:t>what happens by chance</a:t>
            </a:r>
            <a:r>
              <a:rPr lang="en-GB" dirty="0"/>
              <a:t>. If our real distance is bigger than basically all of them, it's signal. If it isn't — it's noise.</a:t>
            </a:r>
          </a:p>
          <a:p>
            <a:r>
              <a:rPr lang="en-GB" dirty="0"/>
              <a:t>The </a:t>
            </a:r>
            <a:r>
              <a:rPr lang="en-GB" b="1" dirty="0"/>
              <a:t>p-value</a:t>
            </a:r>
            <a:r>
              <a:rPr lang="en-GB" dirty="0"/>
              <a:t> is just the fraction of those random shuffles that beat the real one. So p = 0.02 means only 2% of the random mix produced a distance this big. The smaller, the better. Below </a:t>
            </a:r>
            <a:r>
              <a:rPr lang="en-GB" b="1" dirty="0"/>
              <a:t>0.05</a:t>
            </a:r>
            <a:r>
              <a:rPr lang="en-GB" dirty="0"/>
              <a:t> — we call it real.</a:t>
            </a:r>
          </a:p>
          <a:p>
            <a:r>
              <a:rPr lang="en-GB" dirty="0"/>
              <a:t>Now — two versions of the test.</a:t>
            </a:r>
          </a:p>
          <a:p>
            <a:r>
              <a:rPr lang="en-GB" dirty="0"/>
              <a:t>The </a:t>
            </a:r>
            <a:r>
              <a:rPr lang="en-GB" b="1" dirty="0"/>
              <a:t>biased</a:t>
            </a:r>
            <a:r>
              <a:rPr lang="en-GB" dirty="0"/>
              <a:t> version — fit PCA on real labels, then project shuffled-label data through those same axes. It says everything separates, even random labels, because the axes themselves already know the answer.</a:t>
            </a:r>
          </a:p>
          <a:p>
            <a:r>
              <a:rPr lang="en-GB" dirty="0"/>
              <a:t>The </a:t>
            </a:r>
            <a:r>
              <a:rPr lang="en-GB" b="1" dirty="0"/>
              <a:t>honest</a:t>
            </a:r>
            <a:r>
              <a:rPr lang="en-GB" dirty="0"/>
              <a:t> version is different. No projection. Full feature space. All eight thousand neurons. Compute distances directly. Compare against the shuffle null.</a:t>
            </a:r>
          </a:p>
          <a:p>
            <a:r>
              <a:rPr lang="en-GB" dirty="0"/>
              <a:t>That's what's on the screen. P-values. Per pairwise contrast. Per area.</a:t>
            </a:r>
          </a:p>
          <a:p>
            <a:r>
              <a:rPr lang="en-GB" dirty="0"/>
              <a:t>→ </a:t>
            </a:r>
            <a:r>
              <a:rPr lang="en-GB" i="1" dirty="0"/>
              <a:t>Gesture at the three groups of bars, left to right.</a:t>
            </a:r>
          </a:p>
          <a:p>
            <a:r>
              <a:rPr lang="en-GB" i="1" dirty="0"/>
              <a:t>As we can see there is nothing </a:t>
            </a:r>
            <a:r>
              <a:rPr lang="en-GB" i="1" dirty="0" err="1"/>
              <a:t>significat</a:t>
            </a:r>
            <a:r>
              <a:rPr lang="en-GB" i="1" dirty="0"/>
              <a:t> except the </a:t>
            </a:r>
            <a:r>
              <a:rPr lang="en-GB" i="1" dirty="0" err="1"/>
              <a:t>distane</a:t>
            </a:r>
            <a:r>
              <a:rPr lang="en-GB" i="1" dirty="0"/>
              <a:t> between clip and trippy in </a:t>
            </a:r>
            <a:r>
              <a:rPr lang="en-GB" i="1" dirty="0" err="1"/>
              <a:t>Rostroateral</a:t>
            </a:r>
            <a:r>
              <a:rPr lang="en-GB" i="1" dirty="0"/>
              <a:t> area.</a:t>
            </a:r>
            <a:endParaRPr lang="en-GB" dirty="0"/>
          </a:p>
          <a:p>
            <a:r>
              <a:rPr lang="en-GB" dirty="0"/>
              <a:t>HOWEVER WHAT STRIKES TO OUR EYES IS</a:t>
            </a:r>
          </a:p>
          <a:p>
            <a:r>
              <a:rPr lang="en-GB" dirty="0"/>
              <a:t>Monet2 versus Trippy — the two synthetic conditions.</a:t>
            </a:r>
          </a:p>
          <a:p>
            <a:r>
              <a:rPr lang="en-GB" dirty="0"/>
              <a:t>[pause]</a:t>
            </a:r>
          </a:p>
          <a:p>
            <a:r>
              <a:rPr lang="en-GB" dirty="0"/>
              <a:t>Never separates. Anywhere.</a:t>
            </a:r>
          </a:p>
          <a:p>
            <a:r>
              <a:rPr lang="en-GB" dirty="0"/>
              <a:t>[long pause]</a:t>
            </a:r>
          </a:p>
          <a:p>
            <a:r>
              <a:rPr lang="en-GB" dirty="0"/>
              <a:t>So those beautiful clusters from the previous slide? Partly a projection artifact. Two stimuli that look completely different to us — to the brain, in linear terms — they're the same thing.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9ab26d7ba9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9ab26d7ba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Two controls before we change direction. Both pass.</a:t>
            </a:r>
          </a:p>
          <a:p>
            <a:r>
              <a:rPr lang="en-GB" dirty="0"/>
              <a:t>Trial-count. Clip has 377 trials, the other two have 38. Maybe Clip looks separate just because we have more data. So we subsampled Clip down to 38. Distances unchanged.</a:t>
            </a:r>
          </a:p>
          <a:p>
            <a:r>
              <a:rPr lang="en-GB" dirty="0"/>
              <a:t>Neuron-count. V1 had a few more neurons than the higher areas, and at face value V1 looked like the best decoder. We matched neuron counts — V1's lead disappeared. Everyone sits at the same level.</a:t>
            </a:r>
          </a:p>
          <a:p>
            <a:r>
              <a:rPr lang="en-GB" dirty="0"/>
              <a:t>We're not crazy. V1 isn't special. And linear methods are </a:t>
            </a:r>
            <a:r>
              <a:rPr lang="en-GB" b="1" dirty="0"/>
              <a:t>at their ceiling</a:t>
            </a:r>
            <a:r>
              <a:rPr lang="en-GB" dirty="0"/>
              <a:t>. Adding more neurons doesn't help.</a:t>
            </a:r>
          </a:p>
          <a:p>
            <a:pPr marL="0" lvl="0" indent="0" algn="l" rtl="0">
              <a:spcBef>
                <a:spcPts val="120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9ab26d7ba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9ab26d7ba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So we changed the question.</a:t>
            </a:r>
          </a:p>
          <a:p>
            <a:r>
              <a:rPr lang="en-GB" dirty="0"/>
              <a:t>Linear methods can't decode synthetic-versus-synthetic signal. What if, instead of comparing </a:t>
            </a:r>
            <a:r>
              <a:rPr lang="en-GB" b="1" dirty="0"/>
              <a:t>across</a:t>
            </a:r>
            <a:r>
              <a:rPr lang="en-GB" dirty="0"/>
              <a:t> the three videos, we zoomed </a:t>
            </a:r>
            <a:r>
              <a:rPr lang="en-GB" b="1" dirty="0"/>
              <a:t>inside</a:t>
            </a:r>
            <a:r>
              <a:rPr lang="en-GB" dirty="0"/>
              <a:t> one?</a:t>
            </a:r>
          </a:p>
          <a:p>
            <a:r>
              <a:rPr lang="en-GB" dirty="0"/>
              <a:t>Clip has natural sub-categories. </a:t>
            </a:r>
            <a:r>
              <a:rPr lang="en-GB" b="1" dirty="0"/>
              <a:t>Cinematic</a:t>
            </a:r>
            <a:r>
              <a:rPr lang="en-GB" dirty="0"/>
              <a:t> — Hollywood films. </a:t>
            </a:r>
            <a:r>
              <a:rPr lang="en-GB" b="1" dirty="0"/>
              <a:t>Sport1m</a:t>
            </a:r>
            <a:r>
              <a:rPr lang="en-GB" dirty="0"/>
              <a:t> — YouTube sports footage. </a:t>
            </a:r>
            <a:r>
              <a:rPr lang="en-GB" b="1" dirty="0"/>
              <a:t>Rendered</a:t>
            </a:r>
            <a:r>
              <a:rPr lang="en-GB" dirty="0"/>
              <a:t> — CGI. Synthetic, but trying to look real.</a:t>
            </a:r>
          </a:p>
          <a:p>
            <a:r>
              <a:rPr lang="en-GB" dirty="0"/>
              <a:t>So now we have three categories on a more interesting gradient. From clearly natural — to clearly artificial.</a:t>
            </a:r>
          </a:p>
          <a:p>
            <a:r>
              <a:rPr lang="en-GB" dirty="0"/>
              <a:t>Same method. Same honest test.</a:t>
            </a:r>
          </a:p>
          <a:p>
            <a:r>
              <a:rPr lang="en-GB" dirty="0"/>
              <a:t>[pause]</a:t>
            </a:r>
          </a:p>
          <a:p>
            <a:r>
              <a:rPr lang="en-GB" dirty="0"/>
              <a:t>This time it works. Three sub-categories separate in </a:t>
            </a:r>
            <a:r>
              <a:rPr lang="en-GB" b="1" dirty="0"/>
              <a:t>every area</a:t>
            </a:r>
            <a:r>
              <a:rPr lang="en-GB" dirty="0"/>
              <a:t>. P less than 0.02 across the board.</a:t>
            </a:r>
          </a:p>
          <a:p>
            <a:r>
              <a:rPr lang="en-GB" dirty="0"/>
              <a:t>Which means we can finally ask the interesting question. Is </a:t>
            </a:r>
            <a:r>
              <a:rPr lang="en-GB" b="1" dirty="0"/>
              <a:t>one area better at this</a:t>
            </a:r>
            <a:r>
              <a:rPr lang="en-GB" dirty="0"/>
              <a:t> than the others?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9ab26d7ba9_0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9ab26d7ba9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To answer that, we computed the maximum Euclidean distance between trial-averaged trajectories for each pairwise contrast — the same metric as Experiment 2, but with neuron counts equalized across the four areas. Because the previous slide showed that raw distance scales with population size, this matching is what makes the cross-area comparison meaningful: any difference between areas now reflects </a:t>
            </a:r>
            <a:r>
              <a:rPr lang="en-GB" b="1" dirty="0"/>
              <a:t>coding</a:t>
            </a:r>
            <a:r>
              <a:rPr lang="en-GB" dirty="0"/>
              <a:t>, not </a:t>
            </a:r>
            <a:r>
              <a:rPr lang="en-GB" b="1" dirty="0"/>
              <a:t>count</a:t>
            </a:r>
            <a:r>
              <a:rPr lang="en-GB" dirty="0"/>
              <a:t>.</a:t>
            </a:r>
          </a:p>
          <a:p>
            <a:r>
              <a:rPr lang="en-GB" dirty="0"/>
              <a:t>Three pairwise contrasts. Four areas each. The bars on screen.</a:t>
            </a:r>
          </a:p>
          <a:p>
            <a:r>
              <a:rPr lang="en-GB" dirty="0"/>
              <a:t>→ </a:t>
            </a:r>
            <a:r>
              <a:rPr lang="en-GB" i="1" dirty="0"/>
              <a:t>Gesture at left bars. (Anterolateral area)</a:t>
            </a:r>
            <a:endParaRPr lang="en-GB" dirty="0"/>
          </a:p>
          <a:p>
            <a:r>
              <a:rPr lang="en-GB" b="1" dirty="0"/>
              <a:t>Cinematic versus sport1m</a:t>
            </a:r>
            <a:r>
              <a:rPr lang="en-GB" dirty="0"/>
              <a:t> — both naturalistic categories. All four areas perform roughly equivalently. AL is unremarkable.</a:t>
            </a:r>
          </a:p>
          <a:p>
            <a:r>
              <a:rPr lang="en-GB" dirty="0"/>
              <a:t>→ </a:t>
            </a:r>
            <a:r>
              <a:rPr lang="en-GB" i="1" dirty="0"/>
              <a:t>Gesture at middle bars.</a:t>
            </a:r>
            <a:endParaRPr lang="en-GB" dirty="0"/>
          </a:p>
          <a:p>
            <a:r>
              <a:rPr lang="en-GB" b="1" dirty="0"/>
              <a:t>Cinematic versus Rendered</a:t>
            </a:r>
            <a:r>
              <a:rPr lang="en-GB" dirty="0"/>
              <a:t> — naturalistic against CGI. AL stands out.</a:t>
            </a:r>
          </a:p>
          <a:p>
            <a:r>
              <a:rPr lang="en-GB" dirty="0"/>
              <a:t>→ </a:t>
            </a:r>
            <a:r>
              <a:rPr lang="en-GB" i="1" dirty="0"/>
              <a:t>Gesture at right bars.</a:t>
            </a:r>
            <a:endParaRPr lang="en-GB" dirty="0"/>
          </a:p>
          <a:p>
            <a:r>
              <a:rPr lang="en-GB" b="1" dirty="0"/>
              <a:t>Sport1m versus Rendered</a:t>
            </a:r>
            <a:r>
              <a:rPr lang="en-GB" dirty="0"/>
              <a:t> — also naturalistic against CGI. AL stands out again.</a:t>
            </a:r>
          </a:p>
          <a:p>
            <a:r>
              <a:rPr lang="en-GB" dirty="0"/>
              <a:t>[long pause]</a:t>
            </a:r>
          </a:p>
          <a:p>
            <a:r>
              <a:rPr lang="en-GB" dirty="0"/>
              <a:t>The pattern is unambiguous. AL is elevated only when </a:t>
            </a:r>
            <a:r>
              <a:rPr lang="en-GB" b="1" dirty="0"/>
              <a:t>Rendered</a:t>
            </a:r>
            <a:r>
              <a:rPr lang="en-GB" dirty="0"/>
              <a:t> — the synthetic, computer-generated category — is part of the contrast. When both categories are naturalistic, the four areas are indistinguishable.</a:t>
            </a:r>
          </a:p>
          <a:p>
            <a:r>
              <a:rPr lang="en-GB" dirty="0"/>
              <a:t>The interpretation follows directly. AL is not encoding category membership per se. AL is selectively responsive to whether the input is natural or artificial.</a:t>
            </a:r>
          </a:p>
          <a:p>
            <a:r>
              <a:rPr lang="en-GB" dirty="0"/>
              <a:t>[pause]</a:t>
            </a:r>
          </a:p>
          <a:p>
            <a:r>
              <a:rPr lang="en-GB" dirty="0"/>
              <a:t>AL is a </a:t>
            </a:r>
            <a:r>
              <a:rPr lang="en-GB" b="1" dirty="0"/>
              <a:t>naturalness detector</a:t>
            </a:r>
            <a:r>
              <a:rPr lang="en-GB" dirty="0"/>
              <a:t>.</a:t>
            </a:r>
          </a:p>
          <a:p>
            <a:r>
              <a:rPr lang="en-GB" dirty="0"/>
              <a:t>[pause]</a:t>
            </a:r>
          </a:p>
          <a:p>
            <a:r>
              <a:rPr lang="en-GB" dirty="0"/>
              <a:t>→ </a:t>
            </a:r>
            <a:r>
              <a:rPr lang="en-GB" i="1" dirty="0"/>
              <a:t>And here's the callback. Land it slowly.</a:t>
            </a:r>
            <a:endParaRPr lang="en-GB" dirty="0"/>
          </a:p>
          <a:p>
            <a:r>
              <a:rPr lang="en-GB" dirty="0"/>
              <a:t>And here is what makes this result robust.</a:t>
            </a:r>
          </a:p>
          <a:p>
            <a:r>
              <a:rPr lang="en-GB" dirty="0"/>
              <a:t>The same axis emerged in Experiment 2. There, the only contrast that survived the honest test was naturalistic versus synthetic — Clip distinguishable from the two synthetic stimuli, but Monet2 and Trippy indistinguishable from each other. We are now in a different regime entirely: within-class rather than across-class, finer-grained, with matched populations. And the same boundary emerges.</a:t>
            </a:r>
          </a:p>
          <a:p>
            <a:r>
              <a:rPr lang="en-GB" dirty="0"/>
              <a:t>Two independent analyses. The same axis. </a:t>
            </a:r>
            <a:r>
              <a:rPr lang="en-GB" b="1" dirty="0"/>
              <a:t>Natural versus synthetic.</a:t>
            </a:r>
            <a:endParaRPr lang="en-GB" dirty="0"/>
          </a:p>
          <a:p>
            <a:r>
              <a:rPr lang="en-GB" dirty="0"/>
              <a:t>That is not noise. That is a finding.</a:t>
            </a:r>
          </a:p>
          <a:p>
            <a:pPr marL="0" lvl="0" indent="0" algn="l" rtl="0">
              <a:spcBef>
                <a:spcPts val="1200"/>
              </a:spcBef>
              <a:spcAft>
                <a:spcPts val="0"/>
              </a:spcAft>
              <a:buNone/>
            </a:pPr>
            <a:endParaRPr dirty="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9ab26d7ba9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9ab26d7ba9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So what's the takeaway.</a:t>
            </a:r>
          </a:p>
          <a:p>
            <a:r>
              <a:rPr lang="en-GB" dirty="0"/>
              <a:t>Linear methods cleanly sense </a:t>
            </a:r>
            <a:r>
              <a:rPr lang="en-GB" b="1" dirty="0"/>
              <a:t>one</a:t>
            </a:r>
            <a:r>
              <a:rPr lang="en-GB" dirty="0"/>
              <a:t> boundary in mouse visual cortex — natural versus synthetic. And they hit a wall on synthetic-versus-synthetic. Monet2 and Trippy look nothing alike to us — but in linear neural space, they collapse together.</a:t>
            </a:r>
          </a:p>
          <a:p>
            <a:r>
              <a:rPr lang="en-GB" dirty="0"/>
              <a:t>Three things would push this further.</a:t>
            </a:r>
          </a:p>
          <a:p>
            <a:r>
              <a:rPr lang="en-GB" dirty="0"/>
              <a:t>One — everything we did is linear, and a lot of cortex isn't. </a:t>
            </a:r>
            <a:r>
              <a:rPr lang="en-GB" b="1" dirty="0"/>
              <a:t>CEBRA</a:t>
            </a:r>
            <a:r>
              <a:rPr lang="en-GB" dirty="0"/>
              <a:t>, or other manifold-based embeddings, are designed exactly for this regime.</a:t>
            </a:r>
          </a:p>
          <a:p>
            <a:r>
              <a:rPr lang="en-GB" dirty="0"/>
              <a:t>Two — we ran on a single session. Cross-session replication is the obvious next step.</a:t>
            </a:r>
          </a:p>
          <a:p>
            <a:r>
              <a:rPr lang="en-GB" dirty="0"/>
              <a:t>And three — the one we wish we'd had time for. </a:t>
            </a:r>
            <a:r>
              <a:rPr lang="en-GB" dirty="0" err="1"/>
              <a:t>MICrONS</a:t>
            </a:r>
            <a:r>
              <a:rPr lang="en-GB" dirty="0"/>
              <a:t> isn't just functional data. It has the </a:t>
            </a:r>
            <a:r>
              <a:rPr lang="en-GB" b="1" dirty="0"/>
              <a:t>connectome</a:t>
            </a:r>
            <a:r>
              <a:rPr lang="en-GB" dirty="0"/>
              <a:t> for these neurons. The wiring. Sitting there. Unused.</a:t>
            </a:r>
          </a:p>
          <a:p>
            <a:r>
              <a:rPr lang="en-GB" dirty="0"/>
              <a:t>The natural follow-up is to ask </a:t>
            </a:r>
            <a:r>
              <a:rPr lang="en-GB" b="1" dirty="0"/>
              <a:t>why</a:t>
            </a:r>
            <a:r>
              <a:rPr lang="en-GB" dirty="0"/>
              <a:t> AL detects naturalness. And maybe — the answer is in the circuit.</a:t>
            </a:r>
          </a:p>
          <a:p>
            <a:r>
              <a:rPr lang="en-GB" dirty="0"/>
              <a:t>That's where this analysis stops and the next one begins — thank you, and I'd welcome your questions.</a:t>
            </a:r>
          </a:p>
          <a:p>
            <a:pPr marL="0" lvl="0" indent="0" algn="l" rtl="0">
              <a:spcBef>
                <a:spcPts val="120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9ab26d7ba9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9ab26d7ba9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9ab26d7ba9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9ab26d7ba9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pic>
        <p:nvPicPr>
          <p:cNvPr id="18" name="Google Shape;18;p4" title="paint-drops-black-background.jpg"/>
          <p:cNvPicPr preferRelativeResize="0"/>
          <p:nvPr/>
        </p:nvPicPr>
        <p:blipFill rotWithShape="1">
          <a:blip r:embed="rId2">
            <a:alphaModFix/>
          </a:blip>
          <a:srcRect t="14237"/>
          <a:stretch/>
        </p:blipFill>
        <p:spPr>
          <a:xfrm>
            <a:off x="-1" y="0"/>
            <a:ext cx="9144003" cy="5143499"/>
          </a:xfrm>
          <a:prstGeom prst="rect">
            <a:avLst/>
          </a:prstGeom>
          <a:noFill/>
          <a:ln>
            <a:noFill/>
          </a:ln>
        </p:spPr>
      </p:pic>
      <p:sp>
        <p:nvSpPr>
          <p:cNvPr id="19" name="Google Shape;19;p4"/>
          <p:cNvSpPr txBox="1">
            <a:spLocks noGrp="1"/>
          </p:cNvSpPr>
          <p:nvPr>
            <p:ph type="title"/>
          </p:nvPr>
        </p:nvSpPr>
        <p:spPr>
          <a:xfrm>
            <a:off x="342900" y="342900"/>
            <a:ext cx="8458200" cy="572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228600" y="228600"/>
            <a:ext cx="3998400" cy="1445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32" name="Google Shape;32;p7"/>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33" name="Google Shape;33;p7"/>
          <p:cNvSpPr>
            <a:spLocks noGrp="1"/>
          </p:cNvSpPr>
          <p:nvPr>
            <p:ph type="pic" idx="2"/>
          </p:nvPr>
        </p:nvSpPr>
        <p:spPr>
          <a:xfrm>
            <a:off x="5715849" y="0"/>
            <a:ext cx="34281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38" name="Google Shape;38;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39" name="Google Shape;39;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sp>
        <p:nvSpPr>
          <p:cNvPr id="44" name="Google Shape;44;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5" name="Google Shape;45;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83"/>
        <p:cNvGrpSpPr/>
        <p:nvPr/>
      </p:nvGrpSpPr>
      <p:grpSpPr>
        <a:xfrm>
          <a:off x="0" y="0"/>
          <a:ext cx="0" cy="0"/>
          <a:chOff x="0" y="0"/>
          <a:chExt cx="0" cy="0"/>
        </a:xfrm>
      </p:grpSpPr>
      <p:pic>
        <p:nvPicPr>
          <p:cNvPr id="84" name="Google Shape;84;p18" title="back-1.jpg"/>
          <p:cNvPicPr preferRelativeResize="0"/>
          <p:nvPr/>
        </p:nvPicPr>
        <p:blipFill rotWithShape="1">
          <a:blip r:embed="rId2">
            <a:alphaModFix/>
          </a:blip>
          <a:srcRect r="28413" b="26172"/>
          <a:stretch/>
        </p:blipFill>
        <p:spPr>
          <a:xfrm>
            <a:off x="0" y="-13850"/>
            <a:ext cx="9144003" cy="51435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85"/>
        <p:cNvGrpSpPr/>
        <p:nvPr/>
      </p:nvGrpSpPr>
      <p:grpSpPr>
        <a:xfrm>
          <a:off x="0" y="0"/>
          <a:ext cx="0" cy="0"/>
          <a:chOff x="0" y="0"/>
          <a:chExt cx="0" cy="0"/>
        </a:xfrm>
      </p:grpSpPr>
      <p:pic>
        <p:nvPicPr>
          <p:cNvPr id="86" name="Google Shape;86;p19" title="back-2.jpg"/>
          <p:cNvPicPr preferRelativeResize="0"/>
          <p:nvPr/>
        </p:nvPicPr>
        <p:blipFill rotWithShape="1">
          <a:blip r:embed="rId2">
            <a:alphaModFix/>
          </a:blip>
          <a:srcRect l="1980" t="-1102"/>
          <a:stretch/>
        </p:blipFill>
        <p:spPr>
          <a:xfrm rot="10800000">
            <a:off x="3" y="-1"/>
            <a:ext cx="9143997" cy="51625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1pPr>
            <a:lvl2pPr lvl="1">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2pPr>
            <a:lvl3pPr lvl="2">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3pPr>
            <a:lvl4pPr lvl="3">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4pPr>
            <a:lvl5pPr lvl="4">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5pPr>
            <a:lvl6pPr lvl="5">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6pPr>
            <a:lvl7pPr lvl="6">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7pPr>
            <a:lvl8pPr lvl="7">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8pPr>
            <a:lvl9pPr lvl="8">
              <a:spcBef>
                <a:spcPts val="0"/>
              </a:spcBef>
              <a:spcAft>
                <a:spcPts val="0"/>
              </a:spcAft>
              <a:buClr>
                <a:schemeClr val="dk1"/>
              </a:buClr>
              <a:buSzPts val="2600"/>
              <a:buFont typeface="Unbounded Light"/>
              <a:buNone/>
              <a:defRPr sz="2600">
                <a:solidFill>
                  <a:schemeClr val="dk1"/>
                </a:solidFill>
                <a:latin typeface="Unbounded Light"/>
                <a:ea typeface="Unbounded Light"/>
                <a:cs typeface="Unbounded Light"/>
                <a:sym typeface="Unbounded Ligh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marL="914400" lvl="1"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marL="1371600" lvl="2"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marL="1828800" lvl="3"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marL="2286000" lvl="4"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marL="2743200" lvl="5"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marL="3200400" lvl="6"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marL="3657600" lvl="7"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marL="4114800" lvl="8" indent="-3175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7" r:id="rId6"/>
    <p:sldLayoutId id="2147483658" r:id="rId7"/>
    <p:sldLayoutId id="2147483664" r:id="rId8"/>
    <p:sldLayoutId id="214748366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hyperlink" Target="https://neuroscience-3d.netlify.app/"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1"/>
        <p:cNvGrpSpPr/>
        <p:nvPr/>
      </p:nvGrpSpPr>
      <p:grpSpPr>
        <a:xfrm>
          <a:off x="0" y="0"/>
          <a:ext cx="0" cy="0"/>
          <a:chOff x="0" y="0"/>
          <a:chExt cx="0" cy="0"/>
        </a:xfrm>
      </p:grpSpPr>
      <p:sp>
        <p:nvSpPr>
          <p:cNvPr id="103" name="Google Shape;103;p24"/>
          <p:cNvSpPr txBox="1">
            <a:spLocks noGrp="1"/>
          </p:cNvSpPr>
          <p:nvPr>
            <p:ph type="ctrTitle" idx="4294967295"/>
          </p:nvPr>
        </p:nvSpPr>
        <p:spPr>
          <a:xfrm>
            <a:off x="457200" y="685800"/>
            <a:ext cx="8229600" cy="274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900" dirty="0">
                <a:latin typeface="Unbounded Black"/>
                <a:ea typeface="Unbounded Black"/>
                <a:cs typeface="Unbounded Black"/>
                <a:sym typeface="Unbounded Black"/>
              </a:rPr>
              <a:t>THE SHAPE OF A STIMULUS</a:t>
            </a:r>
            <a:endParaRPr sz="4900" dirty="0">
              <a:latin typeface="Unbounded Black"/>
              <a:ea typeface="Unbounded Black"/>
              <a:cs typeface="Unbounded Black"/>
              <a:sym typeface="Unbounded Black"/>
            </a:endParaRPr>
          </a:p>
          <a:p>
            <a:pPr marL="0" lvl="0" indent="0" algn="l" rtl="0">
              <a:spcBef>
                <a:spcPts val="0"/>
              </a:spcBef>
              <a:spcAft>
                <a:spcPts val="0"/>
              </a:spcAft>
              <a:buNone/>
            </a:pPr>
            <a:r>
              <a:rPr lang="en" sz="1650" dirty="0">
                <a:latin typeface="Unbounded Light"/>
                <a:ea typeface="Unbounded Light"/>
                <a:cs typeface="Unbounded Light"/>
                <a:sym typeface="Unbounded Light"/>
              </a:rPr>
              <a:t>Trajectory Geometry of Mouse </a:t>
            </a:r>
            <a:r>
              <a:rPr lang="en" sz="1650" dirty="0"/>
              <a:t>Neuron</a:t>
            </a:r>
            <a:r>
              <a:rPr lang="en" sz="1650" dirty="0">
                <a:latin typeface="Unbounded Light"/>
                <a:ea typeface="Unbounded Light"/>
                <a:cs typeface="Unbounded Light"/>
                <a:sym typeface="Unbounded Light"/>
              </a:rPr>
              <a:t> Population Activity</a:t>
            </a:r>
            <a:endParaRPr sz="1650" dirty="0">
              <a:latin typeface="Unbounded Light"/>
              <a:ea typeface="Unbounded Light"/>
              <a:cs typeface="Unbounded Light"/>
              <a:sym typeface="Unbounded Light"/>
            </a:endParaRPr>
          </a:p>
        </p:txBody>
      </p:sp>
      <p:sp>
        <p:nvSpPr>
          <p:cNvPr id="104" name="Google Shape;104;p24"/>
          <p:cNvSpPr txBox="1"/>
          <p:nvPr/>
        </p:nvSpPr>
        <p:spPr>
          <a:xfrm>
            <a:off x="7421297" y="4527670"/>
            <a:ext cx="1372200" cy="2673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endParaRPr sz="1100">
              <a:solidFill>
                <a:schemeClr val="lt2"/>
              </a:solidFill>
              <a:latin typeface="Unbounded"/>
              <a:ea typeface="Unbounded"/>
              <a:cs typeface="Unbounded"/>
              <a:sym typeface="Unbounded"/>
            </a:endParaRPr>
          </a:p>
        </p:txBody>
      </p:sp>
      <p:sp>
        <p:nvSpPr>
          <p:cNvPr id="105" name="Google Shape;105;p24"/>
          <p:cNvSpPr txBox="1"/>
          <p:nvPr/>
        </p:nvSpPr>
        <p:spPr>
          <a:xfrm>
            <a:off x="457200" y="4396720"/>
            <a:ext cx="8229600" cy="22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spc="200" dirty="0">
                <a:solidFill>
                  <a:schemeClr val="lt2"/>
                </a:solidFill>
                <a:latin typeface="Unbounded"/>
                <a:ea typeface="Unbounded"/>
                <a:cs typeface="Unbounded"/>
                <a:sym typeface="Unbounded"/>
              </a:rPr>
              <a:t>30563 MATHEMATICAL MODELLING FOR NEUROSCIENCE</a:t>
            </a:r>
            <a:endParaRPr dirty="0">
              <a:solidFill>
                <a:schemeClr val="dk1"/>
              </a:solidFill>
              <a:latin typeface="Unbounded"/>
              <a:ea typeface="Unbounded"/>
              <a:cs typeface="Unbounded"/>
              <a:sym typeface="Unbounded"/>
            </a:endParaRPr>
          </a:p>
        </p:txBody>
      </p:sp>
      <p:sp>
        <p:nvSpPr>
          <p:cNvPr id="106" name="Google Shape;106;p24"/>
          <p:cNvSpPr txBox="1"/>
          <p:nvPr/>
        </p:nvSpPr>
        <p:spPr>
          <a:xfrm>
            <a:off x="457200" y="4565470"/>
            <a:ext cx="8229600" cy="28575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latin typeface="Unbounded ExtraBold"/>
                <a:ea typeface="Unbounded ExtraBold"/>
                <a:cs typeface="Unbounded ExtraBold"/>
                <a:sym typeface="Unbounded ExtraBold"/>
              </a:rPr>
              <a:t>Francesca Casillo, Alessandro Lombardi, Edoardo Panella, Federico Scaffidi Muta</a:t>
            </a:r>
            <a:endParaRPr sz="1100" dirty="0">
              <a:solidFill>
                <a:schemeClr val="dk1"/>
              </a:solidFill>
              <a:latin typeface="Unbounded"/>
              <a:ea typeface="Unbounded"/>
              <a:cs typeface="Unbounded"/>
              <a:sym typeface="Unbounded"/>
            </a:endParaRPr>
          </a:p>
        </p:txBody>
      </p:sp>
    </p:spTree>
  </p:cSld>
  <p:clrMapOvr>
    <a:masterClrMapping/>
  </p:clrMapOvr>
  <mc:AlternateContent xmlns:mc="http://schemas.openxmlformats.org/markup-compatibility/2006" xmlns:p14="http://schemas.microsoft.com/office/powerpoint/2010/main">
    <mc:Choice Requires="p14">
      <p:transition spd="slow" p14:dur="2000" advTm="5211"/>
    </mc:Choice>
    <mc:Fallback xmlns="">
      <p:transition spd="slow" advTm="521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5"/>
          <p:cNvSpPr txBox="1"/>
          <p:nvPr/>
        </p:nvSpPr>
        <p:spPr>
          <a:xfrm>
            <a:off x="1387500" y="1605600"/>
            <a:ext cx="6369000" cy="1932300"/>
          </a:xfrm>
          <a:prstGeom prst="rect">
            <a:avLst/>
          </a:prstGeom>
          <a:noFill/>
          <a:ln>
            <a:noFill/>
          </a:ln>
        </p:spPr>
        <p:txBody>
          <a:bodyPr spcFirstLastPara="1" wrap="square" lIns="91425" tIns="91425" rIns="91425" bIns="91425" anchor="t" anchorCtr="0">
            <a:noAutofit/>
          </a:bodyPr>
          <a:lstStyle/>
          <a:p>
            <a:pPr marL="381000" marR="381000" lvl="0" indent="0" algn="ctr" rtl="0">
              <a:lnSpc>
                <a:spcPct val="115000"/>
              </a:lnSpc>
              <a:spcBef>
                <a:spcPts val="1200"/>
              </a:spcBef>
              <a:spcAft>
                <a:spcPts val="0"/>
              </a:spcAft>
              <a:buNone/>
            </a:pPr>
            <a:r>
              <a:rPr lang="en" sz="2500">
                <a:solidFill>
                  <a:schemeClr val="dk1"/>
                </a:solidFill>
                <a:latin typeface="Raleway"/>
                <a:ea typeface="Raleway"/>
                <a:cs typeface="Raleway"/>
                <a:sym typeface="Raleway"/>
              </a:rPr>
              <a:t>A mouse watches three videos.</a:t>
            </a:r>
            <a:endParaRPr sz="2500">
              <a:solidFill>
                <a:schemeClr val="dk1"/>
              </a:solidFill>
              <a:latin typeface="Raleway"/>
              <a:ea typeface="Raleway"/>
              <a:cs typeface="Raleway"/>
              <a:sym typeface="Raleway"/>
            </a:endParaRPr>
          </a:p>
          <a:p>
            <a:pPr marL="381000" marR="381000" lvl="0" indent="0" algn="ctr" rtl="0">
              <a:lnSpc>
                <a:spcPct val="115000"/>
              </a:lnSpc>
              <a:spcBef>
                <a:spcPts val="1200"/>
              </a:spcBef>
              <a:spcAft>
                <a:spcPts val="0"/>
              </a:spcAft>
              <a:buNone/>
            </a:pPr>
            <a:r>
              <a:rPr lang="en" sz="2200">
                <a:solidFill>
                  <a:schemeClr val="dk1"/>
                </a:solidFill>
                <a:latin typeface="Unbounded ExtraBold"/>
                <a:ea typeface="Unbounded ExtraBold"/>
                <a:cs typeface="Unbounded ExtraBold"/>
                <a:sym typeface="Unbounded ExtraBold"/>
              </a:rPr>
              <a:t>Do its neurons code them as three distinguishable population states?</a:t>
            </a:r>
            <a:endParaRPr sz="2200">
              <a:solidFill>
                <a:schemeClr val="dk1"/>
              </a:solidFill>
              <a:latin typeface="Unbounded ExtraBold"/>
              <a:ea typeface="Unbounded ExtraBold"/>
              <a:cs typeface="Unbounded ExtraBold"/>
              <a:sym typeface="Unbounded ExtraBold"/>
            </a:endParaRPr>
          </a:p>
          <a:p>
            <a:pPr marL="0" lvl="0" indent="0" algn="ctr" rtl="0">
              <a:spcBef>
                <a:spcPts val="1200"/>
              </a:spcBef>
              <a:spcAft>
                <a:spcPts val="0"/>
              </a:spcAft>
              <a:buNone/>
            </a:pPr>
            <a:endParaRPr>
              <a:solidFill>
                <a:schemeClr val="dk1"/>
              </a:solidFill>
              <a:latin typeface="Unbounded"/>
              <a:ea typeface="Unbounded"/>
              <a:cs typeface="Unbounded"/>
              <a:sym typeface="Unbounded"/>
            </a:endParaRPr>
          </a:p>
        </p:txBody>
      </p:sp>
    </p:spTree>
  </p:cSld>
  <p:clrMapOvr>
    <a:masterClrMapping/>
  </p:clrMapOvr>
  <mc:AlternateContent xmlns:mc="http://schemas.openxmlformats.org/markup-compatibility/2006" xmlns:p14="http://schemas.microsoft.com/office/powerpoint/2010/main">
    <mc:Choice Requires="p14">
      <p:transition spd="slow" p14:dur="2000" advTm="43894"/>
    </mc:Choice>
    <mc:Fallback xmlns="">
      <p:transition spd="slow" advTm="4389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6"/>
          <p:cNvSpPr/>
          <p:nvPr/>
        </p:nvSpPr>
        <p:spPr>
          <a:xfrm>
            <a:off x="1015878" y="2834336"/>
            <a:ext cx="1578900" cy="342000"/>
          </a:xfrm>
          <a:prstGeom prst="roundRect">
            <a:avLst>
              <a:gd name="adj" fmla="val 50000"/>
            </a:avLst>
          </a:prstGeom>
          <a:solidFill>
            <a:srgbClr val="60A5FA"/>
          </a:solidFill>
          <a:ln w="23200" cap="flat" cmpd="sng">
            <a:solidFill>
              <a:srgbClr val="60A5FA"/>
            </a:solidFill>
            <a:prstDash val="solid"/>
            <a:round/>
            <a:headEnd type="none" w="sm" len="sm"/>
            <a:tailEnd type="none" w="sm" len="sm"/>
          </a:ln>
        </p:spPr>
        <p:txBody>
          <a:bodyPr spcFirstLastPara="1" wrap="square" lIns="111400" tIns="111400" rIns="111400" bIns="111400" anchor="ctr" anchorCtr="0">
            <a:noAutofit/>
          </a:bodyPr>
          <a:lstStyle/>
          <a:p>
            <a:pPr marL="0" lvl="0" indent="0" algn="ctr" rtl="0">
              <a:spcBef>
                <a:spcPts val="0"/>
              </a:spcBef>
              <a:spcAft>
                <a:spcPts val="0"/>
              </a:spcAft>
              <a:buNone/>
            </a:pPr>
            <a:r>
              <a:rPr lang="en" sz="1484" b="1" u="sng" dirty="0">
                <a:solidFill>
                  <a:schemeClr val="bg2"/>
                </a:solidFill>
                <a:latin typeface="Raleway"/>
                <a:ea typeface="Raleway"/>
                <a:cs typeface="Raleway"/>
                <a:sym typeface="Raleway"/>
              </a:rPr>
              <a:t>CLIP</a:t>
            </a:r>
            <a:endParaRPr sz="1484" b="1" u="sng" dirty="0">
              <a:solidFill>
                <a:schemeClr val="bg2"/>
              </a:solidFill>
              <a:latin typeface="Raleway"/>
              <a:ea typeface="Raleway"/>
              <a:cs typeface="Raleway"/>
              <a:sym typeface="Raleway"/>
            </a:endParaRPr>
          </a:p>
        </p:txBody>
      </p:sp>
      <p:sp>
        <p:nvSpPr>
          <p:cNvPr id="117" name="Google Shape;117;p26"/>
          <p:cNvSpPr txBox="1"/>
          <p:nvPr/>
        </p:nvSpPr>
        <p:spPr>
          <a:xfrm>
            <a:off x="635275" y="3273036"/>
            <a:ext cx="2482200" cy="416700"/>
          </a:xfrm>
          <a:prstGeom prst="rect">
            <a:avLst/>
          </a:prstGeom>
          <a:noFill/>
          <a:ln>
            <a:noFill/>
          </a:ln>
        </p:spPr>
        <p:txBody>
          <a:bodyPr spcFirstLastPara="1" wrap="square" lIns="111400" tIns="111400" rIns="111400" bIns="111400" anchor="t" anchorCtr="0">
            <a:noAutofit/>
          </a:bodyPr>
          <a:lstStyle/>
          <a:p>
            <a:pPr marL="0" lvl="0" indent="0" algn="ctr" rtl="0">
              <a:lnSpc>
                <a:spcPct val="115000"/>
              </a:lnSpc>
              <a:spcBef>
                <a:spcPts val="0"/>
              </a:spcBef>
              <a:spcAft>
                <a:spcPts val="1950"/>
              </a:spcAft>
              <a:buNone/>
            </a:pPr>
            <a:r>
              <a:rPr lang="en" sz="1484" dirty="0">
                <a:solidFill>
                  <a:schemeClr val="dk1"/>
                </a:solidFill>
                <a:latin typeface="Raleway"/>
                <a:ea typeface="Raleway"/>
                <a:cs typeface="Raleway"/>
                <a:sym typeface="Raleway"/>
              </a:rPr>
              <a:t>Natural movie footage</a:t>
            </a:r>
            <a:endParaRPr sz="1484" dirty="0">
              <a:solidFill>
                <a:schemeClr val="dk1"/>
              </a:solidFill>
              <a:latin typeface="Raleway"/>
              <a:ea typeface="Raleway"/>
              <a:cs typeface="Raleway"/>
              <a:sym typeface="Raleway"/>
            </a:endParaRPr>
          </a:p>
        </p:txBody>
      </p:sp>
      <p:sp>
        <p:nvSpPr>
          <p:cNvPr id="118" name="Google Shape;118;p26"/>
          <p:cNvSpPr/>
          <p:nvPr/>
        </p:nvSpPr>
        <p:spPr>
          <a:xfrm>
            <a:off x="3763175" y="2850238"/>
            <a:ext cx="1578900" cy="342000"/>
          </a:xfrm>
          <a:prstGeom prst="roundRect">
            <a:avLst>
              <a:gd name="adj" fmla="val 50000"/>
            </a:avLst>
          </a:prstGeom>
          <a:solidFill>
            <a:srgbClr val="F472B6"/>
          </a:solidFill>
          <a:ln w="23200" cap="flat" cmpd="sng">
            <a:solidFill>
              <a:srgbClr val="F472B6"/>
            </a:solidFill>
            <a:prstDash val="solid"/>
            <a:round/>
            <a:headEnd type="none" w="sm" len="sm"/>
            <a:tailEnd type="none" w="sm" len="sm"/>
          </a:ln>
        </p:spPr>
        <p:txBody>
          <a:bodyPr spcFirstLastPara="1" wrap="square" lIns="111400" tIns="111400" rIns="111400" bIns="111400" anchor="ctr" anchorCtr="0">
            <a:noAutofit/>
          </a:bodyPr>
          <a:lstStyle/>
          <a:p>
            <a:pPr marL="0" lvl="0" indent="0" algn="ctr" rtl="0">
              <a:spcBef>
                <a:spcPts val="0"/>
              </a:spcBef>
              <a:spcAft>
                <a:spcPts val="0"/>
              </a:spcAft>
              <a:buNone/>
            </a:pPr>
            <a:r>
              <a:rPr lang="en" sz="1484" b="1" u="sng">
                <a:solidFill>
                  <a:schemeClr val="dk1"/>
                </a:solidFill>
                <a:latin typeface="Raleway"/>
                <a:ea typeface="Raleway"/>
                <a:cs typeface="Raleway"/>
                <a:sym typeface="Raleway"/>
              </a:rPr>
              <a:t>MONET2</a:t>
            </a:r>
            <a:endParaRPr sz="1484" b="1" u="sng">
              <a:solidFill>
                <a:schemeClr val="dk1"/>
              </a:solidFill>
              <a:latin typeface="Raleway"/>
              <a:ea typeface="Raleway"/>
              <a:cs typeface="Raleway"/>
              <a:sym typeface="Raleway"/>
            </a:endParaRPr>
          </a:p>
        </p:txBody>
      </p:sp>
      <p:sp>
        <p:nvSpPr>
          <p:cNvPr id="119" name="Google Shape;119;p26"/>
          <p:cNvSpPr txBox="1"/>
          <p:nvPr/>
        </p:nvSpPr>
        <p:spPr>
          <a:xfrm>
            <a:off x="3330899" y="3279089"/>
            <a:ext cx="2482200" cy="416700"/>
          </a:xfrm>
          <a:prstGeom prst="rect">
            <a:avLst/>
          </a:prstGeom>
          <a:noFill/>
          <a:ln>
            <a:noFill/>
          </a:ln>
        </p:spPr>
        <p:txBody>
          <a:bodyPr spcFirstLastPara="1" wrap="square" lIns="111400" tIns="111400" rIns="111400" bIns="111400" anchor="t" anchorCtr="0">
            <a:noAutofit/>
          </a:bodyPr>
          <a:lstStyle/>
          <a:p>
            <a:pPr marL="0" lvl="0" indent="0" algn="ctr" rtl="0">
              <a:lnSpc>
                <a:spcPct val="115000"/>
              </a:lnSpc>
              <a:spcBef>
                <a:spcPts val="0"/>
              </a:spcBef>
              <a:spcAft>
                <a:spcPts val="1950"/>
              </a:spcAft>
              <a:buNone/>
            </a:pPr>
            <a:r>
              <a:rPr lang="en" sz="1484">
                <a:solidFill>
                  <a:schemeClr val="dk1"/>
                </a:solidFill>
                <a:latin typeface="Raleway"/>
                <a:ea typeface="Raleway"/>
                <a:cs typeface="Raleway"/>
                <a:sym typeface="Raleway"/>
              </a:rPr>
              <a:t>Grey-scale textured noise</a:t>
            </a:r>
            <a:endParaRPr sz="1484">
              <a:solidFill>
                <a:schemeClr val="dk1"/>
              </a:solidFill>
              <a:latin typeface="Raleway"/>
              <a:ea typeface="Raleway"/>
              <a:cs typeface="Raleway"/>
              <a:sym typeface="Raleway"/>
            </a:endParaRPr>
          </a:p>
        </p:txBody>
      </p:sp>
      <p:sp>
        <p:nvSpPr>
          <p:cNvPr id="120" name="Google Shape;120;p26"/>
          <p:cNvSpPr/>
          <p:nvPr/>
        </p:nvSpPr>
        <p:spPr>
          <a:xfrm>
            <a:off x="6549222" y="2829990"/>
            <a:ext cx="1578900" cy="342000"/>
          </a:xfrm>
          <a:prstGeom prst="roundRect">
            <a:avLst>
              <a:gd name="adj" fmla="val 50000"/>
            </a:avLst>
          </a:prstGeom>
          <a:solidFill>
            <a:srgbClr val="34D399"/>
          </a:solidFill>
          <a:ln w="23200" cap="flat" cmpd="sng">
            <a:solidFill>
              <a:srgbClr val="34D399"/>
            </a:solidFill>
            <a:prstDash val="solid"/>
            <a:round/>
            <a:headEnd type="none" w="sm" len="sm"/>
            <a:tailEnd type="none" w="sm" len="sm"/>
          </a:ln>
        </p:spPr>
        <p:txBody>
          <a:bodyPr spcFirstLastPara="1" wrap="square" lIns="111400" tIns="111400" rIns="111400" bIns="111400" anchor="ctr" anchorCtr="0">
            <a:noAutofit/>
          </a:bodyPr>
          <a:lstStyle/>
          <a:p>
            <a:pPr marL="0" lvl="0" indent="0" algn="ctr" rtl="0">
              <a:spcBef>
                <a:spcPts val="0"/>
              </a:spcBef>
              <a:spcAft>
                <a:spcPts val="0"/>
              </a:spcAft>
              <a:buNone/>
            </a:pPr>
            <a:r>
              <a:rPr lang="en" sz="1484" b="1" u="sng">
                <a:solidFill>
                  <a:schemeClr val="dk1"/>
                </a:solidFill>
                <a:latin typeface="Raleway"/>
                <a:ea typeface="Raleway"/>
                <a:cs typeface="Raleway"/>
                <a:sym typeface="Raleway"/>
              </a:rPr>
              <a:t>TRIPPY</a:t>
            </a:r>
            <a:endParaRPr sz="1484" b="1" u="sng">
              <a:solidFill>
                <a:schemeClr val="dk1"/>
              </a:solidFill>
              <a:latin typeface="Raleway"/>
              <a:ea typeface="Raleway"/>
              <a:cs typeface="Raleway"/>
              <a:sym typeface="Raleway"/>
            </a:endParaRPr>
          </a:p>
        </p:txBody>
      </p:sp>
      <p:sp>
        <p:nvSpPr>
          <p:cNvPr id="121" name="Google Shape;121;p26"/>
          <p:cNvSpPr txBox="1"/>
          <p:nvPr/>
        </p:nvSpPr>
        <p:spPr>
          <a:xfrm>
            <a:off x="6097572" y="3273036"/>
            <a:ext cx="2482200" cy="416700"/>
          </a:xfrm>
          <a:prstGeom prst="rect">
            <a:avLst/>
          </a:prstGeom>
          <a:noFill/>
          <a:ln>
            <a:noFill/>
          </a:ln>
        </p:spPr>
        <p:txBody>
          <a:bodyPr spcFirstLastPara="1" wrap="square" lIns="111400" tIns="111400" rIns="111400" bIns="111400" anchor="t" anchorCtr="0">
            <a:noAutofit/>
          </a:bodyPr>
          <a:lstStyle/>
          <a:p>
            <a:pPr marL="0" lvl="0" indent="0" algn="ctr" rtl="0">
              <a:lnSpc>
                <a:spcPct val="115000"/>
              </a:lnSpc>
              <a:spcBef>
                <a:spcPts val="0"/>
              </a:spcBef>
              <a:spcAft>
                <a:spcPts val="1950"/>
              </a:spcAft>
              <a:buNone/>
            </a:pPr>
            <a:r>
              <a:rPr lang="en" sz="1484" dirty="0">
                <a:solidFill>
                  <a:schemeClr val="dk1"/>
                </a:solidFill>
                <a:latin typeface="Raleway"/>
                <a:ea typeface="Raleway"/>
                <a:cs typeface="Raleway"/>
                <a:sym typeface="Raleway"/>
              </a:rPr>
              <a:t>Synthetic wave patterns</a:t>
            </a:r>
            <a:endParaRPr sz="1484" dirty="0">
              <a:solidFill>
                <a:schemeClr val="dk1"/>
              </a:solidFill>
              <a:latin typeface="Raleway"/>
              <a:ea typeface="Raleway"/>
              <a:cs typeface="Raleway"/>
              <a:sym typeface="Raleway"/>
            </a:endParaRPr>
          </a:p>
        </p:txBody>
      </p:sp>
      <p:sp>
        <p:nvSpPr>
          <p:cNvPr id="122" name="Google Shape;122;p26"/>
          <p:cNvSpPr txBox="1"/>
          <p:nvPr/>
        </p:nvSpPr>
        <p:spPr>
          <a:xfrm>
            <a:off x="442325" y="267575"/>
            <a:ext cx="8220600" cy="7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Unbounded ExtraBold"/>
                <a:ea typeface="Unbounded ExtraBold"/>
                <a:cs typeface="Unbounded ExtraBold"/>
                <a:sym typeface="Unbounded ExtraBold"/>
              </a:rPr>
              <a:t>Why this slice of MICrONS for this research question?</a:t>
            </a:r>
            <a:endParaRPr sz="2000">
              <a:solidFill>
                <a:schemeClr val="dk1"/>
              </a:solidFill>
              <a:latin typeface="Unbounded ExtraBold"/>
              <a:ea typeface="Unbounded ExtraBold"/>
              <a:cs typeface="Unbounded ExtraBold"/>
              <a:sym typeface="Unbounded ExtraBold"/>
            </a:endParaRPr>
          </a:p>
        </p:txBody>
      </p:sp>
      <p:sp>
        <p:nvSpPr>
          <p:cNvPr id="123" name="Google Shape;123;p26"/>
          <p:cNvSpPr txBox="1"/>
          <p:nvPr/>
        </p:nvSpPr>
        <p:spPr>
          <a:xfrm>
            <a:off x="922350" y="4071250"/>
            <a:ext cx="7299300" cy="82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dk1"/>
                </a:solidFill>
                <a:latin typeface="Raleway"/>
                <a:ea typeface="Raleway"/>
                <a:cs typeface="Raleway"/>
                <a:sym typeface="Raleway"/>
              </a:rPr>
              <a:t>FUNCTIONAL DATA · ~8,000 NEURONS RECORDED SIMULTANEOUSLY</a:t>
            </a:r>
            <a:endParaRPr b="1" dirty="0">
              <a:solidFill>
                <a:schemeClr val="dk1"/>
              </a:solidFill>
              <a:latin typeface="Raleway"/>
              <a:ea typeface="Raleway"/>
              <a:cs typeface="Raleway"/>
              <a:sym typeface="Raleway"/>
            </a:endParaRPr>
          </a:p>
          <a:p>
            <a:pPr marL="0" lvl="0" indent="0" algn="l" rtl="0">
              <a:spcBef>
                <a:spcPts val="0"/>
              </a:spcBef>
              <a:spcAft>
                <a:spcPts val="0"/>
              </a:spcAft>
              <a:buNone/>
            </a:pPr>
            <a:r>
              <a:rPr lang="en" b="1" dirty="0">
                <a:solidFill>
                  <a:schemeClr val="dk1"/>
                </a:solidFill>
                <a:latin typeface="Raleway"/>
                <a:ea typeface="Raleway"/>
                <a:cs typeface="Raleway"/>
                <a:sym typeface="Raleway"/>
              </a:rPr>
              <a:t>4 CORTICAL AREAS · V1 · LM · RL · AL</a:t>
            </a:r>
            <a:endParaRPr b="1" dirty="0">
              <a:solidFill>
                <a:schemeClr val="dk1"/>
              </a:solidFill>
              <a:latin typeface="Raleway"/>
              <a:ea typeface="Raleway"/>
              <a:cs typeface="Raleway"/>
              <a:sym typeface="Raleway"/>
            </a:endParaRPr>
          </a:p>
        </p:txBody>
      </p:sp>
      <p:pic>
        <p:nvPicPr>
          <p:cNvPr id="3" name="Graphic 2">
            <a:extLst>
              <a:ext uri="{FF2B5EF4-FFF2-40B4-BE49-F238E27FC236}">
                <a16:creationId xmlns:a16="http://schemas.microsoft.com/office/drawing/2014/main" id="{0A297075-B59D-E767-FC31-C2FE2181DB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5275" y="1420844"/>
            <a:ext cx="2336800" cy="1308100"/>
          </a:xfrm>
          <a:prstGeom prst="rect">
            <a:avLst/>
          </a:prstGeom>
        </p:spPr>
      </p:pic>
      <p:pic>
        <p:nvPicPr>
          <p:cNvPr id="9" name="Graphic 8">
            <a:extLst>
              <a:ext uri="{FF2B5EF4-FFF2-40B4-BE49-F238E27FC236}">
                <a16:creationId xmlns:a16="http://schemas.microsoft.com/office/drawing/2014/main" id="{BD642857-C2D1-D61D-7DD0-226205BE9A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5580" y="1420844"/>
            <a:ext cx="2252839" cy="1308100"/>
          </a:xfrm>
          <a:prstGeom prst="rect">
            <a:avLst/>
          </a:prstGeom>
        </p:spPr>
      </p:pic>
      <p:pic>
        <p:nvPicPr>
          <p:cNvPr id="11" name="Graphic 10">
            <a:extLst>
              <a:ext uri="{FF2B5EF4-FFF2-40B4-BE49-F238E27FC236}">
                <a16:creationId xmlns:a16="http://schemas.microsoft.com/office/drawing/2014/main" id="{0CD00A38-D450-B0B6-140F-F07718F22CE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1924" y="1450381"/>
            <a:ext cx="2297417" cy="1278563"/>
          </a:xfrm>
          <a:prstGeom prst="rect">
            <a:avLst/>
          </a:prstGeom>
        </p:spPr>
      </p:pic>
      <p:sp>
        <p:nvSpPr>
          <p:cNvPr id="12" name="TextBox 11">
            <a:extLst>
              <a:ext uri="{FF2B5EF4-FFF2-40B4-BE49-F238E27FC236}">
                <a16:creationId xmlns:a16="http://schemas.microsoft.com/office/drawing/2014/main" id="{65DB3708-DFF5-FAF8-EF42-523BFA65A1BE}"/>
              </a:ext>
            </a:extLst>
          </p:cNvPr>
          <p:cNvSpPr txBox="1"/>
          <p:nvPr/>
        </p:nvSpPr>
        <p:spPr>
          <a:xfrm>
            <a:off x="2086252" y="2974019"/>
            <a:ext cx="184731" cy="307777"/>
          </a:xfrm>
          <a:prstGeom prst="rect">
            <a:avLst/>
          </a:prstGeom>
          <a:noFill/>
        </p:spPr>
        <p:txBody>
          <a:bodyPr wrap="none" rtlCol="0">
            <a:spAutoFit/>
          </a:bodyPr>
          <a:lstStyle/>
          <a:p>
            <a:endParaRPr lang="en-IT" dirty="0"/>
          </a:p>
        </p:txBody>
      </p:sp>
    </p:spTree>
  </p:cSld>
  <p:clrMapOvr>
    <a:masterClrMapping/>
  </p:clrMapOvr>
  <mc:AlternateContent xmlns:mc="http://schemas.openxmlformats.org/markup-compatibility/2006" xmlns:p14="http://schemas.microsoft.com/office/powerpoint/2010/main">
    <mc:Choice Requires="p14">
      <p:transition spd="slow" p14:dur="2000" advTm="59927"/>
    </mc:Choice>
    <mc:Fallback xmlns="">
      <p:transition spd="slow" advTm="5992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7"/>
          <p:cNvSpPr txBox="1"/>
          <p:nvPr/>
        </p:nvSpPr>
        <p:spPr>
          <a:xfrm>
            <a:off x="675076" y="283050"/>
            <a:ext cx="8220600" cy="7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Unbounded ExtraBold"/>
                <a:ea typeface="Unbounded ExtraBold"/>
                <a:cs typeface="Unbounded ExtraBold"/>
                <a:sym typeface="Unbounded ExtraBold"/>
              </a:rPr>
              <a:t>Session choice and trial structure</a:t>
            </a:r>
            <a:endParaRPr sz="2000" dirty="0">
              <a:solidFill>
                <a:schemeClr val="dk1"/>
              </a:solidFill>
              <a:latin typeface="Unbounded ExtraBold"/>
              <a:ea typeface="Unbounded ExtraBold"/>
              <a:cs typeface="Unbounded ExtraBold"/>
              <a:sym typeface="Unbounded ExtraBold"/>
            </a:endParaRPr>
          </a:p>
        </p:txBody>
      </p:sp>
      <p:sp>
        <p:nvSpPr>
          <p:cNvPr id="132" name="Google Shape;132;p27"/>
          <p:cNvSpPr txBox="1"/>
          <p:nvPr/>
        </p:nvSpPr>
        <p:spPr>
          <a:xfrm>
            <a:off x="675076" y="4277850"/>
            <a:ext cx="6906454" cy="5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chemeClr val="dk1"/>
                </a:solidFill>
                <a:latin typeface="Raleway"/>
                <a:ea typeface="Raleway"/>
                <a:cs typeface="Raleway"/>
                <a:sym typeface="Raleway"/>
              </a:rPr>
              <a:t>SESSION 7_5 · |z| ≤ 1.31 ACROSS ALL METRICS · 8,194 NEURONS (COHORT MEDIAN: 8,176)</a:t>
            </a:r>
            <a:endParaRPr sz="1200" b="1" dirty="0">
              <a:solidFill>
                <a:schemeClr val="dk1"/>
              </a:solidFill>
              <a:latin typeface="Raleway"/>
              <a:ea typeface="Raleway"/>
              <a:cs typeface="Raleway"/>
              <a:sym typeface="Raleway"/>
            </a:endParaRPr>
          </a:p>
          <a:p>
            <a:pPr marL="0" lvl="0" indent="0" algn="l" rtl="0">
              <a:spcBef>
                <a:spcPts val="0"/>
              </a:spcBef>
              <a:spcAft>
                <a:spcPts val="0"/>
              </a:spcAft>
              <a:buNone/>
            </a:pPr>
            <a:r>
              <a:rPr lang="en" sz="1200" b="1" dirty="0">
                <a:solidFill>
                  <a:schemeClr val="dk1"/>
                </a:solidFill>
                <a:latin typeface="Raleway"/>
                <a:ea typeface="Raleway"/>
                <a:cs typeface="Raleway"/>
                <a:sym typeface="Raleway"/>
              </a:rPr>
              <a:t>453 TRIALS · 377 CLIP · 38 MONET2 · 38 TRIPPY · INTERLEAVED</a:t>
            </a:r>
            <a:endParaRPr sz="1200" b="1" dirty="0">
              <a:solidFill>
                <a:schemeClr val="dk1"/>
              </a:solidFill>
              <a:latin typeface="Raleway"/>
              <a:ea typeface="Raleway"/>
              <a:cs typeface="Raleway"/>
              <a:sym typeface="Raleway"/>
            </a:endParaRPr>
          </a:p>
        </p:txBody>
      </p:sp>
      <p:pic>
        <p:nvPicPr>
          <p:cNvPr id="3" name="Picture 2">
            <a:extLst>
              <a:ext uri="{FF2B5EF4-FFF2-40B4-BE49-F238E27FC236}">
                <a16:creationId xmlns:a16="http://schemas.microsoft.com/office/drawing/2014/main" id="{07980B8E-0091-95B5-A379-FC2A679DEAA2}"/>
              </a:ext>
            </a:extLst>
          </p:cNvPr>
          <p:cNvPicPr>
            <a:picLocks noChangeAspect="1"/>
          </p:cNvPicPr>
          <p:nvPr/>
        </p:nvPicPr>
        <p:blipFill>
          <a:blip r:embed="rId3"/>
          <a:stretch>
            <a:fillRect/>
          </a:stretch>
        </p:blipFill>
        <p:spPr>
          <a:xfrm>
            <a:off x="760000" y="1052317"/>
            <a:ext cx="7772400" cy="30408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4702"/>
    </mc:Choice>
    <mc:Fallback xmlns="">
      <p:transition spd="slow" advTm="7470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8"/>
          <p:cNvSpPr txBox="1"/>
          <p:nvPr/>
        </p:nvSpPr>
        <p:spPr>
          <a:xfrm>
            <a:off x="417000" y="247516"/>
            <a:ext cx="8220600" cy="7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Unbounded ExtraBold"/>
                <a:ea typeface="Unbounded ExtraBold"/>
                <a:cs typeface="Unbounded ExtraBold"/>
                <a:sym typeface="Unbounded ExtraBold"/>
              </a:rPr>
              <a:t>Preprocessing techniques</a:t>
            </a:r>
            <a:endParaRPr sz="2000" dirty="0">
              <a:solidFill>
                <a:schemeClr val="dk1"/>
              </a:solidFill>
              <a:latin typeface="Unbounded ExtraBold"/>
              <a:ea typeface="Unbounded ExtraBold"/>
              <a:cs typeface="Unbounded ExtraBold"/>
              <a:sym typeface="Unbounded ExtraBold"/>
            </a:endParaRPr>
          </a:p>
        </p:txBody>
      </p:sp>
      <p:sp>
        <p:nvSpPr>
          <p:cNvPr id="139" name="Google Shape;139;p28"/>
          <p:cNvSpPr txBox="1"/>
          <p:nvPr/>
        </p:nvSpPr>
        <p:spPr>
          <a:xfrm>
            <a:off x="506400" y="4518083"/>
            <a:ext cx="8131200" cy="58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dirty="0">
                <a:solidFill>
                  <a:schemeClr val="dk1"/>
                </a:solidFill>
                <a:latin typeface="Raleway"/>
                <a:ea typeface="Raleway"/>
                <a:cs typeface="Raleway"/>
                <a:sym typeface="Raleway"/>
              </a:rPr>
              <a:t>PIPELINE: OUTLIER FILTER → LINEAR DETREND → PER-NEURON Z-SCORE</a:t>
            </a:r>
            <a:endParaRPr b="1" dirty="0">
              <a:solidFill>
                <a:schemeClr val="dk1"/>
              </a:solidFill>
              <a:latin typeface="Raleway"/>
              <a:ea typeface="Raleway"/>
              <a:cs typeface="Raleway"/>
              <a:sym typeface="Raleway"/>
            </a:endParaRPr>
          </a:p>
        </p:txBody>
      </p:sp>
      <p:sp>
        <p:nvSpPr>
          <p:cNvPr id="140" name="Google Shape;140;p28"/>
          <p:cNvSpPr txBox="1"/>
          <p:nvPr/>
        </p:nvSpPr>
        <p:spPr>
          <a:xfrm>
            <a:off x="1297025" y="3813418"/>
            <a:ext cx="2703300" cy="5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Raleway"/>
                <a:ea typeface="Raleway"/>
                <a:cs typeface="Raleway"/>
                <a:sym typeface="Raleway"/>
              </a:rPr>
              <a:t>Running influences V1 — 11 outlier trials removed (2.4%)</a:t>
            </a:r>
            <a:endParaRPr dirty="0">
              <a:solidFill>
                <a:schemeClr val="dk1"/>
              </a:solidFill>
              <a:latin typeface="Raleway"/>
              <a:ea typeface="Raleway"/>
              <a:cs typeface="Raleway"/>
              <a:sym typeface="Raleway"/>
            </a:endParaRPr>
          </a:p>
        </p:txBody>
      </p:sp>
      <p:sp>
        <p:nvSpPr>
          <p:cNvPr id="141" name="Google Shape;141;p28"/>
          <p:cNvSpPr txBox="1"/>
          <p:nvPr/>
        </p:nvSpPr>
        <p:spPr>
          <a:xfrm>
            <a:off x="5774802" y="3798526"/>
            <a:ext cx="2358000" cy="5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Raleway"/>
                <a:ea typeface="Raleway"/>
                <a:cs typeface="Raleway"/>
                <a:sym typeface="Raleway"/>
              </a:rPr>
              <a:t>Photobleaching — linear detrend per trial</a:t>
            </a:r>
            <a:endParaRPr dirty="0">
              <a:solidFill>
                <a:schemeClr val="dk1"/>
              </a:solidFill>
              <a:latin typeface="Raleway"/>
              <a:ea typeface="Raleway"/>
              <a:cs typeface="Raleway"/>
              <a:sym typeface="Raleway"/>
            </a:endParaRPr>
          </a:p>
        </p:txBody>
      </p:sp>
      <p:pic>
        <p:nvPicPr>
          <p:cNvPr id="9" name="Graphic 8">
            <a:extLst>
              <a:ext uri="{FF2B5EF4-FFF2-40B4-BE49-F238E27FC236}">
                <a16:creationId xmlns:a16="http://schemas.microsoft.com/office/drawing/2014/main" id="{FB25911A-9B60-364F-A5A0-110D6CA3A3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5819" y="830115"/>
            <a:ext cx="3986153" cy="2968412"/>
          </a:xfrm>
          <a:prstGeom prst="rect">
            <a:avLst/>
          </a:prstGeom>
        </p:spPr>
      </p:pic>
      <p:pic>
        <p:nvPicPr>
          <p:cNvPr id="11" name="Graphic 10">
            <a:extLst>
              <a:ext uri="{FF2B5EF4-FFF2-40B4-BE49-F238E27FC236}">
                <a16:creationId xmlns:a16="http://schemas.microsoft.com/office/drawing/2014/main" id="{A00A51B6-77B0-67E4-E0B6-10D834E76D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57" y="830115"/>
            <a:ext cx="3986153" cy="296841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2151"/>
    </mc:Choice>
    <mc:Fallback xmlns="">
      <p:transition spd="slow" advTm="6215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p:nvPr/>
        </p:nvSpPr>
        <p:spPr>
          <a:xfrm>
            <a:off x="502920" y="264899"/>
            <a:ext cx="8220600" cy="7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Unbounded ExtraBold"/>
                <a:ea typeface="Unbounded ExtraBold"/>
                <a:cs typeface="Unbounded ExtraBold"/>
                <a:sym typeface="Unbounded ExtraBold"/>
              </a:rPr>
              <a:t>Experiment 1: trial-mean PCA</a:t>
            </a:r>
            <a:endParaRPr sz="2000" dirty="0">
              <a:solidFill>
                <a:schemeClr val="dk1"/>
              </a:solidFill>
              <a:latin typeface="Unbounded ExtraBold"/>
              <a:ea typeface="Unbounded ExtraBold"/>
              <a:cs typeface="Unbounded ExtraBold"/>
              <a:sym typeface="Unbounded ExtraBold"/>
            </a:endParaRPr>
          </a:p>
        </p:txBody>
      </p:sp>
      <p:sp>
        <p:nvSpPr>
          <p:cNvPr id="151" name="Google Shape;151;p29"/>
          <p:cNvSpPr txBox="1"/>
          <p:nvPr/>
        </p:nvSpPr>
        <p:spPr>
          <a:xfrm>
            <a:off x="728094" y="941420"/>
            <a:ext cx="3017520" cy="27432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i="1" dirty="0">
                <a:solidFill>
                  <a:schemeClr val="dk1"/>
                </a:solidFill>
                <a:latin typeface="Inter"/>
                <a:ea typeface="Inter"/>
                <a:cs typeface="Inter"/>
                <a:sym typeface="Inter"/>
              </a:rPr>
              <a:t>n = 453 trials · 5,485 neurons · top 3 PCs</a:t>
            </a:r>
            <a:endParaRPr dirty="0">
              <a:solidFill>
                <a:schemeClr val="dk1"/>
              </a:solidFill>
              <a:latin typeface="Raleway"/>
              <a:ea typeface="Raleway"/>
              <a:cs typeface="Raleway"/>
              <a:sym typeface="Raleway"/>
            </a:endParaRPr>
          </a:p>
        </p:txBody>
      </p:sp>
      <p:sp>
        <p:nvSpPr>
          <p:cNvPr id="152" name="Google Shape;152;p29"/>
          <p:cNvSpPr txBox="1"/>
          <p:nvPr/>
        </p:nvSpPr>
        <p:spPr>
          <a:xfrm>
            <a:off x="4301108" y="1303075"/>
            <a:ext cx="4983480" cy="49241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i="1" dirty="0">
                <a:solidFill>
                  <a:schemeClr val="dk1"/>
                </a:solidFill>
                <a:latin typeface="Raleway" pitchFamily="2" charset="77"/>
                <a:ea typeface="Inter"/>
                <a:cs typeface="Inter"/>
                <a:sym typeface="Inter"/>
              </a:rPr>
              <a:t>PCA does not encode any signal</a:t>
            </a:r>
            <a:endParaRPr sz="3200" b="1" dirty="0">
              <a:solidFill>
                <a:schemeClr val="dk1"/>
              </a:solidFill>
              <a:latin typeface="Raleway" pitchFamily="2" charset="77"/>
            </a:endParaRPr>
          </a:p>
        </p:txBody>
      </p:sp>
      <p:sp>
        <p:nvSpPr>
          <p:cNvPr id="153" name="Google Shape;153;p29"/>
          <p:cNvSpPr txBox="1"/>
          <p:nvPr/>
        </p:nvSpPr>
        <p:spPr>
          <a:xfrm>
            <a:off x="4301108" y="1838568"/>
            <a:ext cx="1097280" cy="41148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2"/>
                </a:solidFill>
                <a:latin typeface="Unbounded Black"/>
                <a:ea typeface="Unbounded Black"/>
                <a:cs typeface="Unbounded Black"/>
                <a:sym typeface="Unbounded Black"/>
              </a:rPr>
              <a:t>BUT</a:t>
            </a:r>
            <a:endParaRPr dirty="0">
              <a:solidFill>
                <a:schemeClr val="lt2"/>
              </a:solidFill>
              <a:latin typeface="Unbounded Black"/>
              <a:ea typeface="Unbounded Black"/>
              <a:cs typeface="Unbounded Black"/>
              <a:sym typeface="Unbounded Black"/>
            </a:endParaRPr>
          </a:p>
        </p:txBody>
      </p:sp>
      <p:sp>
        <p:nvSpPr>
          <p:cNvPr id="154" name="Google Shape;154;p29"/>
          <p:cNvSpPr txBox="1"/>
          <p:nvPr/>
        </p:nvSpPr>
        <p:spPr>
          <a:xfrm>
            <a:off x="4222568" y="2194136"/>
            <a:ext cx="5029200" cy="98798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5400" dirty="0">
                <a:solidFill>
                  <a:schemeClr val="dk1"/>
                </a:solidFill>
                <a:latin typeface="Unbounded Black"/>
                <a:ea typeface="Unbounded Black"/>
                <a:cs typeface="Unbounded Black"/>
                <a:sym typeface="Unbounded Black"/>
              </a:rPr>
              <a:t>98.9%</a:t>
            </a:r>
            <a:endParaRPr sz="5400" dirty="0">
              <a:solidFill>
                <a:schemeClr val="dk1"/>
              </a:solidFill>
              <a:latin typeface="Unbounded Black"/>
              <a:ea typeface="Unbounded Black"/>
              <a:cs typeface="Unbounded Black"/>
              <a:sym typeface="Unbounded Black"/>
            </a:endParaRPr>
          </a:p>
        </p:txBody>
      </p:sp>
      <p:sp>
        <p:nvSpPr>
          <p:cNvPr id="155" name="Google Shape;155;p29"/>
          <p:cNvSpPr txBox="1"/>
          <p:nvPr/>
        </p:nvSpPr>
        <p:spPr>
          <a:xfrm>
            <a:off x="4222568" y="3048202"/>
            <a:ext cx="5029200" cy="5943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chemeClr val="dk1"/>
                </a:solidFill>
                <a:latin typeface="Raleway" pitchFamily="2" charset="77"/>
                <a:ea typeface="Raleway"/>
                <a:cs typeface="Raleway"/>
                <a:sym typeface="Raleway"/>
              </a:rPr>
              <a:t>classifier accuracy on the same trial-mean vectors</a:t>
            </a:r>
            <a:endParaRPr sz="1200" b="1" dirty="0">
              <a:solidFill>
                <a:schemeClr val="dk1"/>
              </a:solidFill>
              <a:latin typeface="Raleway" pitchFamily="2" charset="77"/>
              <a:ea typeface="Raleway"/>
              <a:cs typeface="Raleway"/>
              <a:sym typeface="Raleway"/>
            </a:endParaRPr>
          </a:p>
          <a:p>
            <a:pPr marL="0" lvl="0" indent="0" algn="l" rtl="0">
              <a:spcBef>
                <a:spcPts val="0"/>
              </a:spcBef>
              <a:spcAft>
                <a:spcPts val="0"/>
              </a:spcAft>
              <a:buNone/>
            </a:pPr>
            <a:r>
              <a:rPr lang="en" sz="1100" i="1" dirty="0">
                <a:solidFill>
                  <a:schemeClr val="dk1"/>
                </a:solidFill>
                <a:latin typeface="Raleway" pitchFamily="2" charset="77"/>
                <a:ea typeface="Raleway"/>
                <a:cs typeface="Raleway"/>
                <a:sym typeface="Raleway"/>
              </a:rPr>
              <a:t>majority baseline: 83.2%</a:t>
            </a:r>
            <a:endParaRPr i="1" dirty="0">
              <a:solidFill>
                <a:schemeClr val="dk1"/>
              </a:solidFill>
              <a:latin typeface="Raleway" pitchFamily="2" charset="77"/>
              <a:ea typeface="Raleway"/>
              <a:cs typeface="Raleway"/>
              <a:sym typeface="Raleway"/>
            </a:endParaRPr>
          </a:p>
        </p:txBody>
      </p:sp>
      <p:sp>
        <p:nvSpPr>
          <p:cNvPr id="156" name="Google Shape;156;p29"/>
          <p:cNvSpPr txBox="1"/>
          <p:nvPr/>
        </p:nvSpPr>
        <p:spPr>
          <a:xfrm>
            <a:off x="4301108" y="3642562"/>
            <a:ext cx="5029200" cy="3657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dk1"/>
                </a:solidFill>
                <a:latin typeface="Raleway"/>
                <a:ea typeface="Raleway"/>
                <a:cs typeface="Raleway"/>
                <a:sym typeface="Raleway"/>
              </a:rPr>
              <a:t>LM 98.0% · RL 97.8% · AL 94.7%</a:t>
            </a:r>
            <a:endParaRPr dirty="0">
              <a:solidFill>
                <a:schemeClr val="dk1"/>
              </a:solidFill>
              <a:latin typeface="Raleway"/>
              <a:ea typeface="Raleway"/>
              <a:cs typeface="Raleway"/>
              <a:sym typeface="Raleway"/>
            </a:endParaRPr>
          </a:p>
          <a:p>
            <a:pPr marL="0" lvl="0" indent="0" algn="l" rtl="0">
              <a:spcBef>
                <a:spcPts val="0"/>
              </a:spcBef>
              <a:spcAft>
                <a:spcPts val="0"/>
              </a:spcAft>
              <a:buNone/>
            </a:pPr>
            <a:endParaRPr dirty="0">
              <a:solidFill>
                <a:schemeClr val="dk1"/>
              </a:solidFill>
              <a:latin typeface="Raleway"/>
              <a:ea typeface="Raleway"/>
              <a:cs typeface="Raleway"/>
              <a:sym typeface="Raleway"/>
            </a:endParaRPr>
          </a:p>
        </p:txBody>
      </p:sp>
      <p:sp>
        <p:nvSpPr>
          <p:cNvPr id="157" name="Google Shape;157;p29"/>
          <p:cNvSpPr txBox="1"/>
          <p:nvPr/>
        </p:nvSpPr>
        <p:spPr>
          <a:xfrm>
            <a:off x="502920" y="4434840"/>
            <a:ext cx="8138160" cy="50292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solidFill>
                  <a:schemeClr val="dk1"/>
                </a:solidFill>
                <a:latin typeface="Raleway ExtraBold" pitchFamily="2" charset="77"/>
                <a:ea typeface="Unbounded ExtraBold"/>
                <a:cs typeface="Unbounded ExtraBold"/>
                <a:sym typeface="Unbounded ExtraBold"/>
              </a:rPr>
              <a:t>THE SIGNAL IS THERE. PCA ISN'T ALIGNED WITH IT.</a:t>
            </a:r>
            <a:endParaRPr b="1" dirty="0">
              <a:solidFill>
                <a:schemeClr val="dk1"/>
              </a:solidFill>
              <a:latin typeface="Raleway ExtraBold" pitchFamily="2" charset="77"/>
              <a:ea typeface="Raleway"/>
              <a:cs typeface="Raleway"/>
              <a:sym typeface="Raleway"/>
            </a:endParaRPr>
          </a:p>
        </p:txBody>
      </p:sp>
      <p:pic>
        <p:nvPicPr>
          <p:cNvPr id="2" name="Picture 1">
            <a:hlinkClick r:id="rId3"/>
            <a:extLst>
              <a:ext uri="{FF2B5EF4-FFF2-40B4-BE49-F238E27FC236}">
                <a16:creationId xmlns:a16="http://schemas.microsoft.com/office/drawing/2014/main" id="{9332CC99-7ED3-D1D9-42F0-F98148BAA932}"/>
              </a:ext>
            </a:extLst>
          </p:cNvPr>
          <p:cNvPicPr>
            <a:picLocks noChangeAspect="1"/>
          </p:cNvPicPr>
          <p:nvPr/>
        </p:nvPicPr>
        <p:blipFill>
          <a:blip r:embed="rId4"/>
          <a:srcRect t="19487" r="28117"/>
          <a:stretch>
            <a:fillRect/>
          </a:stretch>
        </p:blipFill>
        <p:spPr>
          <a:xfrm>
            <a:off x="615507" y="1275681"/>
            <a:ext cx="3242694" cy="28248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88959"/>
    </mc:Choice>
    <mc:Fallback xmlns="">
      <p:transition spd="slow" advTm="8895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p:nvPr/>
        </p:nvSpPr>
        <p:spPr>
          <a:xfrm>
            <a:off x="418350" y="45454"/>
            <a:ext cx="8307300" cy="72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1"/>
                </a:solidFill>
                <a:latin typeface="Unbounded ExtraBold"/>
                <a:ea typeface="Unbounded ExtraBold"/>
                <a:cs typeface="Unbounded ExtraBold"/>
                <a:sym typeface="Unbounded ExtraBold"/>
              </a:rPr>
              <a:t>Experiment 2: </a:t>
            </a:r>
            <a:endParaRPr sz="1800" dirty="0">
              <a:solidFill>
                <a:schemeClr val="dk1"/>
              </a:solidFill>
              <a:latin typeface="Unbounded ExtraBold"/>
              <a:ea typeface="Unbounded ExtraBold"/>
              <a:cs typeface="Unbounded ExtraBold"/>
              <a:sym typeface="Unbounded ExtraBold"/>
            </a:endParaRPr>
          </a:p>
          <a:p>
            <a:pPr marL="0" lvl="0" indent="0" algn="l" rtl="0">
              <a:spcBef>
                <a:spcPts val="0"/>
              </a:spcBef>
              <a:spcAft>
                <a:spcPts val="0"/>
              </a:spcAft>
              <a:buNone/>
            </a:pPr>
            <a:r>
              <a:rPr lang="en" sz="1800" dirty="0">
                <a:solidFill>
                  <a:schemeClr val="dk1"/>
                </a:solidFill>
                <a:latin typeface="Unbounded ExtraBold"/>
                <a:ea typeface="Unbounded ExtraBold"/>
                <a:cs typeface="Unbounded ExtraBold"/>
                <a:sym typeface="Unbounded ExtraBold"/>
              </a:rPr>
              <a:t>Trial-averaged trajectories - projected into PC space</a:t>
            </a:r>
            <a:endParaRPr sz="1800" dirty="0">
              <a:solidFill>
                <a:schemeClr val="dk1"/>
              </a:solidFill>
              <a:latin typeface="Unbounded ExtraBold"/>
              <a:ea typeface="Unbounded ExtraBold"/>
              <a:cs typeface="Unbounded ExtraBold"/>
              <a:sym typeface="Unbounded ExtraBold"/>
            </a:endParaRPr>
          </a:p>
        </p:txBody>
      </p:sp>
      <p:sp>
        <p:nvSpPr>
          <p:cNvPr id="163" name="Google Shape;163;p30"/>
          <p:cNvSpPr txBox="1"/>
          <p:nvPr/>
        </p:nvSpPr>
        <p:spPr>
          <a:xfrm>
            <a:off x="506400" y="4282750"/>
            <a:ext cx="8131200" cy="50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50" i="1" dirty="0">
                <a:solidFill>
                  <a:schemeClr val="dk1"/>
                </a:solidFill>
                <a:latin typeface="Raleway"/>
                <a:ea typeface="Raleway"/>
                <a:cs typeface="Raleway"/>
                <a:sym typeface="Raleway"/>
              </a:rPr>
              <a:t>Three separated clusters in every area</a:t>
            </a:r>
            <a:endParaRPr sz="1650" i="1" dirty="0">
              <a:solidFill>
                <a:schemeClr val="dk1"/>
              </a:solidFill>
              <a:latin typeface="Raleway"/>
              <a:ea typeface="Raleway"/>
              <a:cs typeface="Raleway"/>
              <a:sym typeface="Raleway"/>
            </a:endParaRPr>
          </a:p>
          <a:p>
            <a:pPr marL="0" lvl="0" indent="0" algn="ctr" rtl="0">
              <a:spcBef>
                <a:spcPts val="0"/>
              </a:spcBef>
              <a:spcAft>
                <a:spcPts val="0"/>
              </a:spcAft>
              <a:buNone/>
            </a:pPr>
            <a:r>
              <a:rPr lang="en" sz="2000" b="1" dirty="0">
                <a:solidFill>
                  <a:schemeClr val="dk1"/>
                </a:solidFill>
                <a:latin typeface="Raleway ExtraBold" pitchFamily="2" charset="77"/>
                <a:ea typeface="Unbounded ExtraBold"/>
                <a:cs typeface="Unbounded ExtraBold"/>
                <a:sym typeface="Unbounded ExtraBold"/>
              </a:rPr>
              <a:t>BUT IS THE SEPARATION REAL?</a:t>
            </a:r>
            <a:endParaRPr sz="2000" b="1" dirty="0">
              <a:solidFill>
                <a:schemeClr val="dk1"/>
              </a:solidFill>
              <a:latin typeface="Raleway ExtraBold" pitchFamily="2" charset="77"/>
              <a:ea typeface="Unbounded ExtraBold"/>
              <a:cs typeface="Unbounded ExtraBold"/>
              <a:sym typeface="Unbounded ExtraBold"/>
            </a:endParaRPr>
          </a:p>
        </p:txBody>
      </p:sp>
      <p:pic>
        <p:nvPicPr>
          <p:cNvPr id="5" name="Graphic 4">
            <a:extLst>
              <a:ext uri="{FF2B5EF4-FFF2-40B4-BE49-F238E27FC236}">
                <a16:creationId xmlns:a16="http://schemas.microsoft.com/office/drawing/2014/main" id="{1889764D-7761-E44F-487A-7E775094C4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19122" y="883599"/>
            <a:ext cx="5962405" cy="33763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3094"/>
    </mc:Choice>
    <mc:Fallback xmlns="">
      <p:transition spd="slow" advTm="5309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p:nvPr/>
        </p:nvSpPr>
        <p:spPr>
          <a:xfrm>
            <a:off x="506400" y="245400"/>
            <a:ext cx="8204823" cy="69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u="sng" dirty="0">
                <a:solidFill>
                  <a:schemeClr val="dk1"/>
                </a:solidFill>
                <a:latin typeface="Unbounded ExtraBold"/>
                <a:ea typeface="Unbounded ExtraBold"/>
                <a:cs typeface="Unbounded ExtraBold"/>
                <a:sym typeface="Unbounded ExtraBold"/>
              </a:rPr>
              <a:t>Biased Test</a:t>
            </a:r>
            <a:r>
              <a:rPr lang="en" sz="1200" dirty="0">
                <a:solidFill>
                  <a:schemeClr val="dk1"/>
                </a:solidFill>
                <a:latin typeface="Unbounded ExtraBold"/>
                <a:ea typeface="Unbounded ExtraBold"/>
                <a:cs typeface="Unbounded ExtraBold"/>
                <a:sym typeface="Unbounded ExtraBold"/>
              </a:rPr>
              <a:t>: PCA fit on real-label trial averages, then shuffled data projected </a:t>
            </a:r>
          </a:p>
          <a:p>
            <a:pPr marL="0" lvl="0" indent="0" algn="l" rtl="0">
              <a:spcBef>
                <a:spcPts val="0"/>
              </a:spcBef>
              <a:spcAft>
                <a:spcPts val="0"/>
              </a:spcAft>
              <a:buNone/>
            </a:pPr>
            <a:r>
              <a:rPr lang="en" sz="1200" dirty="0">
                <a:solidFill>
                  <a:schemeClr val="dk1"/>
                </a:solidFill>
                <a:latin typeface="Unbounded ExtraBold"/>
                <a:ea typeface="Unbounded ExtraBold"/>
                <a:cs typeface="Unbounded ExtraBold"/>
                <a:sym typeface="Unbounded ExtraBold"/>
              </a:rPr>
              <a:t>through the same PCs</a:t>
            </a:r>
            <a:br>
              <a:rPr lang="en" sz="1200" dirty="0">
                <a:solidFill>
                  <a:schemeClr val="dk1"/>
                </a:solidFill>
                <a:latin typeface="Unbounded ExtraBold"/>
                <a:ea typeface="Unbounded ExtraBold"/>
                <a:cs typeface="Unbounded ExtraBold"/>
                <a:sym typeface="Unbounded ExtraBold"/>
              </a:rPr>
            </a:br>
            <a:r>
              <a:rPr lang="en" sz="1200" u="sng" dirty="0">
                <a:solidFill>
                  <a:schemeClr val="dk1"/>
                </a:solidFill>
                <a:latin typeface="Unbounded ExtraBold"/>
                <a:ea typeface="Unbounded ExtraBold"/>
                <a:cs typeface="Unbounded ExtraBold"/>
                <a:sym typeface="Unbounded ExtraBold"/>
              </a:rPr>
              <a:t>Honest Test</a:t>
            </a:r>
            <a:r>
              <a:rPr lang="en" sz="1200" dirty="0">
                <a:solidFill>
                  <a:schemeClr val="dk1"/>
                </a:solidFill>
                <a:latin typeface="Unbounded ExtraBold"/>
                <a:ea typeface="Unbounded ExtraBold"/>
                <a:cs typeface="Unbounded ExtraBold"/>
                <a:sym typeface="Unbounded ExtraBold"/>
              </a:rPr>
              <a:t>: full feature s</a:t>
            </a:r>
            <a:r>
              <a:rPr lang="en-GB" sz="1200" dirty="0">
                <a:solidFill>
                  <a:schemeClr val="dk1"/>
                </a:solidFill>
                <a:latin typeface="Unbounded ExtraBold"/>
                <a:ea typeface="Unbounded ExtraBold"/>
                <a:cs typeface="Unbounded ExtraBold"/>
                <a:sym typeface="Unbounded ExtraBold"/>
              </a:rPr>
              <a:t>pa</a:t>
            </a:r>
            <a:r>
              <a:rPr lang="en" sz="1200" dirty="0" err="1">
                <a:solidFill>
                  <a:schemeClr val="dk1"/>
                </a:solidFill>
                <a:latin typeface="Unbounded ExtraBold"/>
                <a:ea typeface="Unbounded ExtraBold"/>
                <a:cs typeface="Unbounded ExtraBold"/>
                <a:sym typeface="Unbounded ExtraBold"/>
              </a:rPr>
              <a:t>ce</a:t>
            </a:r>
            <a:r>
              <a:rPr lang="en" sz="1200" dirty="0">
                <a:solidFill>
                  <a:schemeClr val="dk1"/>
                </a:solidFill>
                <a:latin typeface="Unbounded ExtraBold"/>
                <a:ea typeface="Unbounded ExtraBold"/>
                <a:cs typeface="Unbounded ExtraBold"/>
                <a:sym typeface="Unbounded ExtraBold"/>
              </a:rPr>
              <a:t> with no projection on all neurons</a:t>
            </a:r>
          </a:p>
        </p:txBody>
      </p:sp>
      <p:sp>
        <p:nvSpPr>
          <p:cNvPr id="170" name="Google Shape;170;p31"/>
          <p:cNvSpPr txBox="1"/>
          <p:nvPr/>
        </p:nvSpPr>
        <p:spPr>
          <a:xfrm>
            <a:off x="506400" y="4356500"/>
            <a:ext cx="8131200" cy="698100"/>
          </a:xfrm>
          <a:prstGeom prst="rect">
            <a:avLst/>
          </a:prstGeom>
          <a:noFill/>
          <a:ln>
            <a:noFill/>
          </a:ln>
        </p:spPr>
        <p:txBody>
          <a:bodyPr spcFirstLastPara="1" wrap="square" lIns="91425" tIns="91425" rIns="91425" bIns="91425" anchor="t" anchorCtr="0">
            <a:noAutofit/>
          </a:bodyPr>
          <a:lstStyle/>
          <a:p>
            <a:pPr lvl="0" algn="ctr"/>
            <a:r>
              <a:rPr lang="en" sz="1600" i="1" dirty="0">
                <a:solidFill>
                  <a:schemeClr val="dk1"/>
                </a:solidFill>
                <a:latin typeface="Raleway"/>
                <a:ea typeface="Raleway"/>
                <a:cs typeface="Raleway"/>
                <a:sym typeface="Raleway"/>
              </a:rPr>
              <a:t>Monet2 </a:t>
            </a:r>
            <a:r>
              <a:rPr lang="en-IT" sz="1600" dirty="0">
                <a:solidFill>
                  <a:schemeClr val="bg2"/>
                </a:solidFill>
                <a:latin typeface="Raleway" pitchFamily="2" charset="77"/>
              </a:rPr>
              <a:t>⇔</a:t>
            </a:r>
            <a:r>
              <a:rPr lang="en" sz="1600" i="1" dirty="0">
                <a:solidFill>
                  <a:schemeClr val="dk1"/>
                </a:solidFill>
                <a:latin typeface="Raleway"/>
                <a:ea typeface="Raleway"/>
                <a:cs typeface="Raleway"/>
                <a:sym typeface="Raleway"/>
              </a:rPr>
              <a:t> Trippy never reliably separates in any area</a:t>
            </a:r>
            <a:endParaRPr sz="1600" i="1" dirty="0">
              <a:solidFill>
                <a:schemeClr val="dk1"/>
              </a:solidFill>
              <a:latin typeface="Raleway"/>
              <a:ea typeface="Raleway"/>
              <a:cs typeface="Raleway"/>
              <a:sym typeface="Raleway"/>
            </a:endParaRPr>
          </a:p>
          <a:p>
            <a:pPr marL="0" lvl="0" indent="0" algn="ctr" rtl="0">
              <a:spcBef>
                <a:spcPts val="0"/>
              </a:spcBef>
              <a:spcAft>
                <a:spcPts val="0"/>
              </a:spcAft>
              <a:buNone/>
            </a:pPr>
            <a:r>
              <a:rPr lang="en" sz="1800" b="1" dirty="0">
                <a:solidFill>
                  <a:schemeClr val="dk1"/>
                </a:solidFill>
                <a:latin typeface="Raleway ExtraBold" pitchFamily="2" charset="77"/>
                <a:ea typeface="Unbounded ExtraBold"/>
                <a:cs typeface="Unbounded ExtraBold"/>
                <a:sym typeface="Unbounded ExtraBold"/>
              </a:rPr>
              <a:t> THE COLLAPSE PERSISTS</a:t>
            </a:r>
            <a:endParaRPr sz="1800" b="1" dirty="0">
              <a:solidFill>
                <a:schemeClr val="dk1"/>
              </a:solidFill>
              <a:latin typeface="Raleway ExtraBold" pitchFamily="2" charset="77"/>
              <a:ea typeface="Unbounded ExtraBold"/>
              <a:cs typeface="Unbounded ExtraBold"/>
              <a:sym typeface="Unbounded ExtraBold"/>
            </a:endParaRPr>
          </a:p>
        </p:txBody>
      </p:sp>
      <p:pic>
        <p:nvPicPr>
          <p:cNvPr id="9" name="Graphic 8">
            <a:extLst>
              <a:ext uri="{FF2B5EF4-FFF2-40B4-BE49-F238E27FC236}">
                <a16:creationId xmlns:a16="http://schemas.microsoft.com/office/drawing/2014/main" id="{357D0768-E16C-6AD7-5A00-A7442CFE0D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8801" y="1100000"/>
            <a:ext cx="7446397" cy="31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02129"/>
    </mc:Choice>
    <mc:Fallback xmlns="">
      <p:transition spd="slow" advTm="10212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2"/>
          <p:cNvSpPr txBox="1"/>
          <p:nvPr/>
        </p:nvSpPr>
        <p:spPr>
          <a:xfrm>
            <a:off x="720519" y="295830"/>
            <a:ext cx="8307300" cy="4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Unbounded ExtraBold"/>
                <a:ea typeface="Unbounded ExtraBold"/>
                <a:cs typeface="Unbounded ExtraBold"/>
                <a:sym typeface="Unbounded ExtraBold"/>
              </a:rPr>
              <a:t>Two controls - both pass</a:t>
            </a:r>
            <a:endParaRPr sz="2000" dirty="0">
              <a:solidFill>
                <a:schemeClr val="dk1"/>
              </a:solidFill>
              <a:latin typeface="Unbounded ExtraBold"/>
              <a:ea typeface="Unbounded ExtraBold"/>
              <a:cs typeface="Unbounded ExtraBold"/>
              <a:sym typeface="Unbounded ExtraBold"/>
            </a:endParaRPr>
          </a:p>
        </p:txBody>
      </p:sp>
      <p:sp>
        <p:nvSpPr>
          <p:cNvPr id="179" name="Google Shape;179;p32"/>
          <p:cNvSpPr txBox="1"/>
          <p:nvPr/>
        </p:nvSpPr>
        <p:spPr>
          <a:xfrm>
            <a:off x="502920" y="4434840"/>
            <a:ext cx="8138160" cy="41148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650" b="1" dirty="0">
                <a:solidFill>
                  <a:schemeClr val="dk1"/>
                </a:solidFill>
                <a:latin typeface="Raleway ExtraBold" pitchFamily="2" charset="77"/>
                <a:ea typeface="Raleway"/>
                <a:cs typeface="Raleway"/>
                <a:sym typeface="Raleway"/>
              </a:rPr>
              <a:t>LINEAR METHODS HIT A CEILING</a:t>
            </a:r>
            <a:endParaRPr lang="en-GB" b="1" dirty="0">
              <a:solidFill>
                <a:schemeClr val="dk1"/>
              </a:solidFill>
              <a:latin typeface="Raleway ExtraBold" pitchFamily="2" charset="77"/>
              <a:ea typeface="Raleway"/>
              <a:cs typeface="Raleway"/>
              <a:sym typeface="Raleway"/>
            </a:endParaRPr>
          </a:p>
        </p:txBody>
      </p:sp>
      <p:sp>
        <p:nvSpPr>
          <p:cNvPr id="5" name="TextBox 4">
            <a:extLst>
              <a:ext uri="{FF2B5EF4-FFF2-40B4-BE49-F238E27FC236}">
                <a16:creationId xmlns:a16="http://schemas.microsoft.com/office/drawing/2014/main" id="{66620500-E290-E345-615B-7E5DFAFFD8EB}"/>
              </a:ext>
            </a:extLst>
          </p:cNvPr>
          <p:cNvSpPr txBox="1"/>
          <p:nvPr/>
        </p:nvSpPr>
        <p:spPr>
          <a:xfrm>
            <a:off x="720519" y="1112194"/>
            <a:ext cx="3188693" cy="523220"/>
          </a:xfrm>
          <a:prstGeom prst="rect">
            <a:avLst/>
          </a:prstGeom>
          <a:noFill/>
        </p:spPr>
        <p:txBody>
          <a:bodyPr wrap="none" rtlCol="0">
            <a:spAutoFit/>
          </a:bodyPr>
          <a:lstStyle/>
          <a:p>
            <a:r>
              <a:rPr lang="en-GB" b="1" spc="100" dirty="0">
                <a:solidFill>
                  <a:schemeClr val="lt2"/>
                </a:solidFill>
                <a:latin typeface="Unbounded"/>
                <a:ea typeface="Unbounded"/>
                <a:cs typeface="Unbounded"/>
                <a:sym typeface="Unbounded"/>
              </a:rPr>
              <a:t>TRIAL-COUNT CONTROL</a:t>
            </a:r>
          </a:p>
          <a:p>
            <a:endParaRPr lang="en-IT" dirty="0"/>
          </a:p>
        </p:txBody>
      </p:sp>
      <p:sp>
        <p:nvSpPr>
          <p:cNvPr id="6" name="TextBox 5">
            <a:extLst>
              <a:ext uri="{FF2B5EF4-FFF2-40B4-BE49-F238E27FC236}">
                <a16:creationId xmlns:a16="http://schemas.microsoft.com/office/drawing/2014/main" id="{2500B4E0-CC11-3A22-A183-6BD1FA6FD80E}"/>
              </a:ext>
            </a:extLst>
          </p:cNvPr>
          <p:cNvSpPr txBox="1"/>
          <p:nvPr/>
        </p:nvSpPr>
        <p:spPr>
          <a:xfrm>
            <a:off x="4811007" y="1112194"/>
            <a:ext cx="3504486" cy="523220"/>
          </a:xfrm>
          <a:prstGeom prst="rect">
            <a:avLst/>
          </a:prstGeom>
          <a:noFill/>
        </p:spPr>
        <p:txBody>
          <a:bodyPr wrap="none" rtlCol="0">
            <a:spAutoFit/>
          </a:bodyPr>
          <a:lstStyle/>
          <a:p>
            <a:r>
              <a:rPr lang="it-IT" b="1" spc="100" dirty="0">
                <a:solidFill>
                  <a:schemeClr val="lt2"/>
                </a:solidFill>
                <a:latin typeface="Unbounded"/>
                <a:ea typeface="Unbounded"/>
                <a:cs typeface="Unbounded"/>
                <a:sym typeface="Unbounded"/>
              </a:rPr>
              <a:t>NEURON-COUNT CONTROL</a:t>
            </a:r>
          </a:p>
          <a:p>
            <a:endParaRPr lang="en-IT" dirty="0"/>
          </a:p>
        </p:txBody>
      </p:sp>
      <p:sp>
        <p:nvSpPr>
          <p:cNvPr id="7" name="TextBox 6">
            <a:extLst>
              <a:ext uri="{FF2B5EF4-FFF2-40B4-BE49-F238E27FC236}">
                <a16:creationId xmlns:a16="http://schemas.microsoft.com/office/drawing/2014/main" id="{D87AB124-310E-CD06-340B-2D91905F19A3}"/>
              </a:ext>
            </a:extLst>
          </p:cNvPr>
          <p:cNvSpPr txBox="1"/>
          <p:nvPr/>
        </p:nvSpPr>
        <p:spPr>
          <a:xfrm>
            <a:off x="712391" y="1456131"/>
            <a:ext cx="2401619" cy="892552"/>
          </a:xfrm>
          <a:prstGeom prst="rect">
            <a:avLst/>
          </a:prstGeom>
          <a:noFill/>
        </p:spPr>
        <p:txBody>
          <a:bodyPr wrap="none" rtlCol="0">
            <a:spAutoFit/>
          </a:bodyPr>
          <a:lstStyle/>
          <a:p>
            <a:r>
              <a:rPr lang="en-GB" sz="1000" b="1" spc="100" dirty="0">
                <a:solidFill>
                  <a:schemeClr val="accent1">
                    <a:lumMod val="20000"/>
                    <a:lumOff val="80000"/>
                  </a:schemeClr>
                </a:solidFill>
                <a:latin typeface="Unbounded"/>
                <a:sym typeface="Unbounded"/>
              </a:rPr>
              <a:t>THE ISSUE</a:t>
            </a:r>
            <a:endParaRPr lang="en-GB" sz="900" b="1" spc="100" dirty="0">
              <a:solidFill>
                <a:schemeClr val="accent1">
                  <a:lumMod val="20000"/>
                  <a:lumOff val="80000"/>
                </a:schemeClr>
              </a:solidFill>
              <a:latin typeface="Unbounded"/>
              <a:sym typeface="Unbounded"/>
            </a:endParaRPr>
          </a:p>
          <a:p>
            <a:r>
              <a:rPr lang="en-GB" dirty="0">
                <a:solidFill>
                  <a:schemeClr val="tx1"/>
                </a:solidFill>
                <a:latin typeface="Raleway" pitchFamily="2" charset="77"/>
              </a:rPr>
              <a:t>Clip has 377 trials —</a:t>
            </a:r>
          </a:p>
          <a:p>
            <a:r>
              <a:rPr lang="en-GB" dirty="0">
                <a:solidFill>
                  <a:schemeClr val="tx1"/>
                </a:solidFill>
                <a:latin typeface="Raleway" pitchFamily="2" charset="77"/>
              </a:rPr>
              <a:t>Monet2 and Trippy only 38</a:t>
            </a:r>
            <a:endParaRPr lang="en-GB" b="1" dirty="0">
              <a:solidFill>
                <a:schemeClr val="tx1"/>
              </a:solidFill>
              <a:latin typeface="Raleway" pitchFamily="2" charset="77"/>
              <a:ea typeface="Unbounded"/>
              <a:cs typeface="Unbounded"/>
              <a:sym typeface="Unbounded"/>
            </a:endParaRPr>
          </a:p>
          <a:p>
            <a:endParaRPr lang="en-IT" dirty="0"/>
          </a:p>
        </p:txBody>
      </p:sp>
      <p:sp>
        <p:nvSpPr>
          <p:cNvPr id="8" name="TextBox 7">
            <a:extLst>
              <a:ext uri="{FF2B5EF4-FFF2-40B4-BE49-F238E27FC236}">
                <a16:creationId xmlns:a16="http://schemas.microsoft.com/office/drawing/2014/main" id="{8A25F220-061E-D2EC-DD3E-65282FBF35C6}"/>
              </a:ext>
            </a:extLst>
          </p:cNvPr>
          <p:cNvSpPr txBox="1"/>
          <p:nvPr/>
        </p:nvSpPr>
        <p:spPr>
          <a:xfrm>
            <a:off x="712391" y="2374222"/>
            <a:ext cx="3058851" cy="477054"/>
          </a:xfrm>
          <a:prstGeom prst="rect">
            <a:avLst/>
          </a:prstGeom>
          <a:noFill/>
        </p:spPr>
        <p:txBody>
          <a:bodyPr wrap="none" rtlCol="0">
            <a:spAutoFit/>
          </a:bodyPr>
          <a:lstStyle/>
          <a:p>
            <a:r>
              <a:rPr lang="en-GB" sz="1100" b="1" spc="100" dirty="0">
                <a:solidFill>
                  <a:schemeClr val="accent1">
                    <a:lumMod val="20000"/>
                    <a:lumOff val="80000"/>
                  </a:schemeClr>
                </a:solidFill>
                <a:latin typeface="Unbounded"/>
                <a:sym typeface="Unbounded"/>
              </a:rPr>
              <a:t>WHAT WE DID</a:t>
            </a:r>
            <a:endParaRPr lang="en-GB" sz="1050" b="1" spc="100" dirty="0">
              <a:solidFill>
                <a:schemeClr val="accent1">
                  <a:lumMod val="20000"/>
                  <a:lumOff val="80000"/>
                </a:schemeClr>
              </a:solidFill>
              <a:latin typeface="Unbounded"/>
              <a:sym typeface="Unbounded"/>
            </a:endParaRPr>
          </a:p>
          <a:p>
            <a:r>
              <a:rPr lang="en-GB" dirty="0">
                <a:solidFill>
                  <a:schemeClr val="tx1"/>
                </a:solidFill>
                <a:latin typeface="Raleway" pitchFamily="2" charset="77"/>
              </a:rPr>
              <a:t>Subsampled Clip down to 38 trials.</a:t>
            </a:r>
            <a:endParaRPr lang="en-IT" dirty="0">
              <a:solidFill>
                <a:schemeClr val="tx1"/>
              </a:solidFill>
              <a:latin typeface="Raleway" pitchFamily="2" charset="77"/>
            </a:endParaRPr>
          </a:p>
        </p:txBody>
      </p:sp>
      <p:sp>
        <p:nvSpPr>
          <p:cNvPr id="9" name="TextBox 8">
            <a:extLst>
              <a:ext uri="{FF2B5EF4-FFF2-40B4-BE49-F238E27FC236}">
                <a16:creationId xmlns:a16="http://schemas.microsoft.com/office/drawing/2014/main" id="{1F0EE4C3-5921-76C1-4DF9-90A543BF4343}"/>
              </a:ext>
            </a:extLst>
          </p:cNvPr>
          <p:cNvSpPr txBox="1"/>
          <p:nvPr/>
        </p:nvSpPr>
        <p:spPr>
          <a:xfrm>
            <a:off x="712391" y="3121060"/>
            <a:ext cx="2877711" cy="969496"/>
          </a:xfrm>
          <a:prstGeom prst="rect">
            <a:avLst/>
          </a:prstGeom>
          <a:noFill/>
        </p:spPr>
        <p:txBody>
          <a:bodyPr wrap="none" rtlCol="0">
            <a:spAutoFit/>
          </a:bodyPr>
          <a:lstStyle/>
          <a:p>
            <a:r>
              <a:rPr lang="en-GB" sz="1100" b="1" spc="100" dirty="0">
                <a:solidFill>
                  <a:schemeClr val="accent1">
                    <a:lumMod val="20000"/>
                    <a:lumOff val="80000"/>
                  </a:schemeClr>
                </a:solidFill>
                <a:latin typeface="Unbounded"/>
                <a:sym typeface="Unbounded"/>
              </a:rPr>
              <a:t>RESULTS</a:t>
            </a:r>
          </a:p>
          <a:p>
            <a:r>
              <a:rPr lang="en-GB" sz="2000" b="1" dirty="0">
                <a:solidFill>
                  <a:schemeClr val="tx1"/>
                </a:solidFill>
                <a:latin typeface="Raleway" pitchFamily="2" charset="77"/>
              </a:rPr>
              <a:t>Distances unchanged</a:t>
            </a:r>
          </a:p>
          <a:p>
            <a:r>
              <a:rPr lang="en-GB" i="1" dirty="0">
                <a:solidFill>
                  <a:schemeClr val="bg2"/>
                </a:solidFill>
                <a:latin typeface="Raleway" pitchFamily="2" charset="77"/>
              </a:rPr>
              <a:t>Trial-count is not the explanation.</a:t>
            </a:r>
            <a:br>
              <a:rPr lang="en-GB" sz="1200" i="1" dirty="0">
                <a:solidFill>
                  <a:schemeClr val="bg2"/>
                </a:solidFill>
                <a:latin typeface="Raleway" pitchFamily="2" charset="77"/>
              </a:rPr>
            </a:br>
            <a:r>
              <a:rPr lang="en-GB" sz="1200" i="1" dirty="0">
                <a:solidFill>
                  <a:schemeClr val="bg2"/>
                </a:solidFill>
                <a:latin typeface="Raleway" pitchFamily="2" charset="77"/>
              </a:rPr>
              <a:t>.</a:t>
            </a:r>
            <a:endParaRPr lang="en-IT" sz="1200" i="1" dirty="0">
              <a:solidFill>
                <a:schemeClr val="bg2"/>
              </a:solidFill>
              <a:latin typeface="Raleway" pitchFamily="2" charset="77"/>
            </a:endParaRPr>
          </a:p>
        </p:txBody>
      </p:sp>
      <p:sp>
        <p:nvSpPr>
          <p:cNvPr id="10" name="TextBox 9">
            <a:extLst>
              <a:ext uri="{FF2B5EF4-FFF2-40B4-BE49-F238E27FC236}">
                <a16:creationId xmlns:a16="http://schemas.microsoft.com/office/drawing/2014/main" id="{4473E2D6-064D-5FC1-6B9A-41D8539E790C}"/>
              </a:ext>
            </a:extLst>
          </p:cNvPr>
          <p:cNvSpPr txBox="1"/>
          <p:nvPr/>
        </p:nvSpPr>
        <p:spPr>
          <a:xfrm>
            <a:off x="4811007" y="1456131"/>
            <a:ext cx="2137124" cy="677108"/>
          </a:xfrm>
          <a:prstGeom prst="rect">
            <a:avLst/>
          </a:prstGeom>
          <a:noFill/>
        </p:spPr>
        <p:txBody>
          <a:bodyPr wrap="none" rtlCol="0">
            <a:spAutoFit/>
          </a:bodyPr>
          <a:lstStyle/>
          <a:p>
            <a:r>
              <a:rPr lang="en-GB" sz="1000" b="1" spc="100" dirty="0">
                <a:solidFill>
                  <a:schemeClr val="accent1">
                    <a:lumMod val="20000"/>
                    <a:lumOff val="80000"/>
                  </a:schemeClr>
                </a:solidFill>
                <a:latin typeface="Unbounded"/>
                <a:sym typeface="Unbounded"/>
              </a:rPr>
              <a:t>THE ISSUE</a:t>
            </a:r>
          </a:p>
          <a:p>
            <a:r>
              <a:rPr lang="en-GB" dirty="0">
                <a:solidFill>
                  <a:schemeClr val="bg2"/>
                </a:solidFill>
                <a:latin typeface="Raleway" pitchFamily="2" charset="77"/>
              </a:rPr>
              <a:t>V1 has 5,485 neurons —</a:t>
            </a:r>
          </a:p>
          <a:p>
            <a:r>
              <a:rPr lang="en-GB" dirty="0">
                <a:solidFill>
                  <a:schemeClr val="bg2"/>
                </a:solidFill>
                <a:latin typeface="Raleway" pitchFamily="2" charset="77"/>
              </a:rPr>
              <a:t>AL only 414.</a:t>
            </a:r>
            <a:endParaRPr lang="en-IT" dirty="0">
              <a:solidFill>
                <a:schemeClr val="bg2"/>
              </a:solidFill>
              <a:latin typeface="Raleway" pitchFamily="2" charset="77"/>
            </a:endParaRPr>
          </a:p>
        </p:txBody>
      </p:sp>
      <p:sp>
        <p:nvSpPr>
          <p:cNvPr id="11" name="TextBox 10">
            <a:extLst>
              <a:ext uri="{FF2B5EF4-FFF2-40B4-BE49-F238E27FC236}">
                <a16:creationId xmlns:a16="http://schemas.microsoft.com/office/drawing/2014/main" id="{7FD3E297-0C8C-5DAF-3862-CD196C3EF591}"/>
              </a:ext>
            </a:extLst>
          </p:cNvPr>
          <p:cNvSpPr txBox="1"/>
          <p:nvPr/>
        </p:nvSpPr>
        <p:spPr>
          <a:xfrm>
            <a:off x="4811007" y="2374222"/>
            <a:ext cx="2949846" cy="477054"/>
          </a:xfrm>
          <a:prstGeom prst="rect">
            <a:avLst/>
          </a:prstGeom>
          <a:noFill/>
        </p:spPr>
        <p:txBody>
          <a:bodyPr wrap="none" rtlCol="0">
            <a:spAutoFit/>
          </a:bodyPr>
          <a:lstStyle/>
          <a:p>
            <a:r>
              <a:rPr lang="en-GB" sz="1100" b="1" spc="100" dirty="0">
                <a:solidFill>
                  <a:schemeClr val="accent1">
                    <a:lumMod val="20000"/>
                    <a:lumOff val="80000"/>
                  </a:schemeClr>
                </a:solidFill>
                <a:latin typeface="Unbounded"/>
                <a:sym typeface="Unbounded"/>
              </a:rPr>
              <a:t>WHAT WE DID</a:t>
            </a:r>
          </a:p>
          <a:p>
            <a:r>
              <a:rPr lang="en-GB" dirty="0">
                <a:solidFill>
                  <a:schemeClr val="bg2"/>
                </a:solidFill>
                <a:latin typeface="Raleway" pitchFamily="2" charset="77"/>
              </a:rPr>
              <a:t>Matched all areas to 414 neurons.</a:t>
            </a:r>
            <a:endParaRPr lang="en-IT" dirty="0">
              <a:solidFill>
                <a:schemeClr val="bg2"/>
              </a:solidFill>
              <a:latin typeface="Raleway" pitchFamily="2" charset="77"/>
            </a:endParaRPr>
          </a:p>
        </p:txBody>
      </p:sp>
      <p:sp>
        <p:nvSpPr>
          <p:cNvPr id="13" name="TextBox 12">
            <a:extLst>
              <a:ext uri="{FF2B5EF4-FFF2-40B4-BE49-F238E27FC236}">
                <a16:creationId xmlns:a16="http://schemas.microsoft.com/office/drawing/2014/main" id="{C6EB626D-B059-B787-AF7E-FC23AE945949}"/>
              </a:ext>
            </a:extLst>
          </p:cNvPr>
          <p:cNvSpPr txBox="1"/>
          <p:nvPr/>
        </p:nvSpPr>
        <p:spPr>
          <a:xfrm>
            <a:off x="4811007" y="3121060"/>
            <a:ext cx="2640466" cy="784830"/>
          </a:xfrm>
          <a:prstGeom prst="rect">
            <a:avLst/>
          </a:prstGeom>
          <a:noFill/>
        </p:spPr>
        <p:txBody>
          <a:bodyPr wrap="none" rtlCol="0">
            <a:spAutoFit/>
          </a:bodyPr>
          <a:lstStyle/>
          <a:p>
            <a:r>
              <a:rPr lang="en-GB" sz="1100" b="1" spc="100" dirty="0">
                <a:solidFill>
                  <a:schemeClr val="accent1">
                    <a:lumMod val="20000"/>
                    <a:lumOff val="80000"/>
                  </a:schemeClr>
                </a:solidFill>
                <a:latin typeface="Unbounded"/>
                <a:sym typeface="Unbounded"/>
              </a:rPr>
              <a:t>RESULTS</a:t>
            </a:r>
          </a:p>
          <a:p>
            <a:r>
              <a:rPr lang="en-GB" sz="2000" b="1" dirty="0">
                <a:solidFill>
                  <a:schemeClr val="bg2"/>
                </a:solidFill>
                <a:latin typeface="Raleway" pitchFamily="2" charset="77"/>
              </a:rPr>
              <a:t>V1's lead vanishes.</a:t>
            </a:r>
          </a:p>
          <a:p>
            <a:r>
              <a:rPr lang="en-GB" dirty="0">
                <a:solidFill>
                  <a:schemeClr val="bg2"/>
                </a:solidFill>
                <a:latin typeface="Raleway" pitchFamily="2" charset="77"/>
              </a:rPr>
              <a:t>All areas sit at the same level.</a:t>
            </a:r>
            <a:endParaRPr lang="en-IT" sz="1050" i="1" dirty="0">
              <a:solidFill>
                <a:schemeClr val="bg2"/>
              </a:solidFill>
              <a:latin typeface="Raleway" pitchFamily="2" charset="77"/>
            </a:endParaRPr>
          </a:p>
        </p:txBody>
      </p:sp>
    </p:spTree>
  </p:cSld>
  <p:clrMapOvr>
    <a:masterClrMapping/>
  </p:clrMapOvr>
  <mc:AlternateContent xmlns:mc="http://schemas.openxmlformats.org/markup-compatibility/2006" xmlns:p14="http://schemas.microsoft.com/office/powerpoint/2010/main">
    <mc:Choice Requires="p14">
      <p:transition spd="slow" p14:dur="2000" advTm="56153"/>
    </mc:Choice>
    <mc:Fallback xmlns="">
      <p:transition spd="slow" advTm="5615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4"/>
        <p:cNvGrpSpPr/>
        <p:nvPr/>
      </p:nvGrpSpPr>
      <p:grpSpPr>
        <a:xfrm>
          <a:off x="0" y="0"/>
          <a:ext cx="0" cy="0"/>
          <a:chOff x="0" y="0"/>
          <a:chExt cx="0" cy="0"/>
        </a:xfrm>
      </p:grpSpPr>
      <p:sp>
        <p:nvSpPr>
          <p:cNvPr id="185" name="Google Shape;185;p33"/>
          <p:cNvSpPr txBox="1"/>
          <p:nvPr/>
        </p:nvSpPr>
        <p:spPr>
          <a:xfrm>
            <a:off x="652775" y="277800"/>
            <a:ext cx="8220600" cy="62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Unbounded ExtraBold"/>
                <a:ea typeface="Unbounded ExtraBold"/>
                <a:cs typeface="Unbounded ExtraBold"/>
                <a:sym typeface="Unbounded ExtraBold"/>
              </a:rPr>
              <a:t>Experiment 3: same method—zoomed inside Clip</a:t>
            </a:r>
            <a:endParaRPr sz="2000">
              <a:solidFill>
                <a:schemeClr val="dk1"/>
              </a:solidFill>
              <a:latin typeface="Unbounded ExtraBold"/>
              <a:ea typeface="Unbounded ExtraBold"/>
              <a:cs typeface="Unbounded ExtraBold"/>
              <a:sym typeface="Unbounded ExtraBold"/>
            </a:endParaRPr>
          </a:p>
        </p:txBody>
      </p:sp>
      <p:sp>
        <p:nvSpPr>
          <p:cNvPr id="192" name="Google Shape;192;p33"/>
          <p:cNvSpPr txBox="1"/>
          <p:nvPr/>
        </p:nvSpPr>
        <p:spPr>
          <a:xfrm>
            <a:off x="2700000" y="4378500"/>
            <a:ext cx="5944000" cy="528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i="1" dirty="0">
                <a:solidFill>
                  <a:schemeClr val="dk1"/>
                </a:solidFill>
                <a:latin typeface="Raleway"/>
                <a:ea typeface="Raleway"/>
                <a:cs typeface="Raleway"/>
                <a:sym typeface="Raleway"/>
              </a:rPr>
              <a:t>Three sub-categories separate in every area with p ≤ 0.02</a:t>
            </a:r>
            <a:endParaRPr sz="1500" i="1" dirty="0">
              <a:solidFill>
                <a:schemeClr val="dk1"/>
              </a:solidFill>
              <a:latin typeface="Raleway"/>
              <a:ea typeface="Raleway"/>
              <a:cs typeface="Raleway"/>
              <a:sym typeface="Raleway"/>
            </a:endParaRPr>
          </a:p>
          <a:p>
            <a:pPr marL="0" lvl="0" indent="0" algn="ctr" rtl="0">
              <a:spcBef>
                <a:spcPts val="0"/>
              </a:spcBef>
              <a:spcAft>
                <a:spcPts val="0"/>
              </a:spcAft>
              <a:buNone/>
            </a:pPr>
            <a:r>
              <a:rPr lang="en" sz="1800" b="1" dirty="0">
                <a:solidFill>
                  <a:schemeClr val="dk1"/>
                </a:solidFill>
                <a:latin typeface="Raleway ExtraBold" pitchFamily="2" charset="77"/>
                <a:ea typeface="Unbounded"/>
                <a:cs typeface="Unbounded"/>
                <a:sym typeface="Unbounded"/>
              </a:rPr>
              <a:t>BUT IS ONE AREA SPECIAL?</a:t>
            </a:r>
            <a:endParaRPr sz="1800" b="1" dirty="0">
              <a:solidFill>
                <a:schemeClr val="dk1"/>
              </a:solidFill>
              <a:latin typeface="Raleway ExtraBold" pitchFamily="2" charset="77"/>
              <a:ea typeface="Unbounded"/>
              <a:cs typeface="Unbounded"/>
              <a:sym typeface="Unbounded"/>
            </a:endParaRPr>
          </a:p>
        </p:txBody>
      </p:sp>
      <p:sp>
        <p:nvSpPr>
          <p:cNvPr id="2" name="Google Shape;116;p26">
            <a:extLst>
              <a:ext uri="{FF2B5EF4-FFF2-40B4-BE49-F238E27FC236}">
                <a16:creationId xmlns:a16="http://schemas.microsoft.com/office/drawing/2014/main" id="{B892AC60-52DC-E88A-BC65-F51AA2703D61}"/>
              </a:ext>
            </a:extLst>
          </p:cNvPr>
          <p:cNvSpPr/>
          <p:nvPr/>
        </p:nvSpPr>
        <p:spPr>
          <a:xfrm>
            <a:off x="771275" y="2034099"/>
            <a:ext cx="1251008" cy="131501"/>
          </a:xfrm>
          <a:prstGeom prst="roundRect">
            <a:avLst>
              <a:gd name="adj" fmla="val 50000"/>
            </a:avLst>
          </a:prstGeom>
          <a:solidFill>
            <a:srgbClr val="D55E00"/>
          </a:solidFill>
          <a:ln w="23200" cap="flat" cmpd="sng">
            <a:solidFill>
              <a:srgbClr val="D55E00"/>
            </a:solidFill>
            <a:prstDash val="solid"/>
            <a:round/>
            <a:headEnd type="none" w="sm" len="sm"/>
            <a:tailEnd type="none" w="sm" len="sm"/>
          </a:ln>
        </p:spPr>
        <p:txBody>
          <a:bodyPr spcFirstLastPara="1" wrap="square" lIns="111400" tIns="111400" rIns="111400" bIns="111400" anchor="ctr" anchorCtr="0">
            <a:noAutofit/>
          </a:bodyPr>
          <a:lstStyle/>
          <a:p>
            <a:pPr marL="0" lvl="0" indent="0" algn="ctr" rtl="0">
              <a:spcBef>
                <a:spcPts val="0"/>
              </a:spcBef>
              <a:spcAft>
                <a:spcPts val="0"/>
              </a:spcAft>
              <a:buNone/>
            </a:pPr>
            <a:r>
              <a:rPr lang="en" sz="1100" b="1" dirty="0">
                <a:solidFill>
                  <a:schemeClr val="bg2"/>
                </a:solidFill>
                <a:latin typeface="Raleway"/>
                <a:ea typeface="Raleway"/>
                <a:cs typeface="Raleway"/>
                <a:sym typeface="Raleway"/>
              </a:rPr>
              <a:t>Cinematic</a:t>
            </a:r>
            <a:endParaRPr sz="1100" b="1" dirty="0">
              <a:solidFill>
                <a:schemeClr val="bg2"/>
              </a:solidFill>
              <a:latin typeface="Raleway"/>
              <a:ea typeface="Raleway"/>
              <a:cs typeface="Raleway"/>
              <a:sym typeface="Raleway"/>
            </a:endParaRPr>
          </a:p>
        </p:txBody>
      </p:sp>
      <p:sp>
        <p:nvSpPr>
          <p:cNvPr id="5" name="Google Shape;116;p26">
            <a:extLst>
              <a:ext uri="{FF2B5EF4-FFF2-40B4-BE49-F238E27FC236}">
                <a16:creationId xmlns:a16="http://schemas.microsoft.com/office/drawing/2014/main" id="{FC873341-FEB7-C85C-3C46-E42D41B402C5}"/>
              </a:ext>
            </a:extLst>
          </p:cNvPr>
          <p:cNvSpPr/>
          <p:nvPr/>
        </p:nvSpPr>
        <p:spPr>
          <a:xfrm>
            <a:off x="771275" y="3272429"/>
            <a:ext cx="1251008" cy="131501"/>
          </a:xfrm>
          <a:prstGeom prst="roundRect">
            <a:avLst>
              <a:gd name="adj" fmla="val 50000"/>
            </a:avLst>
          </a:prstGeom>
          <a:solidFill>
            <a:srgbClr val="56B4E9"/>
          </a:solidFill>
          <a:ln w="23200" cap="flat" cmpd="sng">
            <a:solidFill>
              <a:srgbClr val="56B4E9"/>
            </a:solidFill>
            <a:prstDash val="solid"/>
            <a:round/>
            <a:headEnd type="none" w="sm" len="sm"/>
            <a:tailEnd type="none" w="sm" len="sm"/>
          </a:ln>
        </p:spPr>
        <p:txBody>
          <a:bodyPr spcFirstLastPara="1" wrap="square" lIns="111400" tIns="111400" rIns="111400" bIns="111400" anchor="ctr" anchorCtr="0">
            <a:noAutofit/>
          </a:bodyPr>
          <a:lstStyle/>
          <a:p>
            <a:pPr marL="0" lvl="0" indent="0" algn="ctr" rtl="0">
              <a:spcBef>
                <a:spcPts val="0"/>
              </a:spcBef>
              <a:spcAft>
                <a:spcPts val="0"/>
              </a:spcAft>
              <a:buNone/>
            </a:pPr>
            <a:r>
              <a:rPr lang="en" sz="1100" b="1" dirty="0">
                <a:solidFill>
                  <a:schemeClr val="bg2"/>
                </a:solidFill>
                <a:latin typeface="Raleway"/>
                <a:ea typeface="Raleway"/>
                <a:cs typeface="Raleway"/>
                <a:sym typeface="Raleway"/>
              </a:rPr>
              <a:t>sport1m</a:t>
            </a:r>
            <a:endParaRPr sz="1484" b="1" dirty="0">
              <a:solidFill>
                <a:schemeClr val="bg2"/>
              </a:solidFill>
              <a:latin typeface="Raleway"/>
              <a:ea typeface="Raleway"/>
              <a:cs typeface="Raleway"/>
              <a:sym typeface="Raleway"/>
            </a:endParaRPr>
          </a:p>
        </p:txBody>
      </p:sp>
      <p:sp>
        <p:nvSpPr>
          <p:cNvPr id="6" name="Google Shape;116;p26">
            <a:extLst>
              <a:ext uri="{FF2B5EF4-FFF2-40B4-BE49-F238E27FC236}">
                <a16:creationId xmlns:a16="http://schemas.microsoft.com/office/drawing/2014/main" id="{C7C79107-893C-2096-5A80-333048F0F7EC}"/>
              </a:ext>
            </a:extLst>
          </p:cNvPr>
          <p:cNvSpPr/>
          <p:nvPr/>
        </p:nvSpPr>
        <p:spPr>
          <a:xfrm>
            <a:off x="779221" y="4577049"/>
            <a:ext cx="1251008" cy="131501"/>
          </a:xfrm>
          <a:prstGeom prst="roundRect">
            <a:avLst>
              <a:gd name="adj" fmla="val 50000"/>
            </a:avLst>
          </a:prstGeom>
          <a:solidFill>
            <a:srgbClr val="CC79A7"/>
          </a:solidFill>
          <a:ln w="23200" cap="flat" cmpd="sng">
            <a:solidFill>
              <a:srgbClr val="CC79A7"/>
            </a:solidFill>
            <a:prstDash val="solid"/>
            <a:round/>
            <a:headEnd type="none" w="sm" len="sm"/>
            <a:tailEnd type="none" w="sm" len="sm"/>
          </a:ln>
        </p:spPr>
        <p:txBody>
          <a:bodyPr spcFirstLastPara="1" wrap="square" lIns="111400" tIns="111400" rIns="111400" bIns="111400" anchor="ctr" anchorCtr="0">
            <a:noAutofit/>
          </a:bodyPr>
          <a:lstStyle/>
          <a:p>
            <a:pPr marL="0" lvl="0" indent="0" algn="ctr" rtl="0">
              <a:spcBef>
                <a:spcPts val="0"/>
              </a:spcBef>
              <a:spcAft>
                <a:spcPts val="0"/>
              </a:spcAft>
              <a:buNone/>
            </a:pPr>
            <a:r>
              <a:rPr lang="en" sz="1100" b="1" dirty="0">
                <a:solidFill>
                  <a:schemeClr val="bg2"/>
                </a:solidFill>
                <a:latin typeface="Raleway"/>
                <a:ea typeface="Raleway"/>
                <a:cs typeface="Raleway"/>
                <a:sym typeface="Raleway"/>
              </a:rPr>
              <a:t>Rendered</a:t>
            </a:r>
            <a:endParaRPr sz="1100" b="1" dirty="0">
              <a:solidFill>
                <a:schemeClr val="bg2"/>
              </a:solidFill>
              <a:latin typeface="Raleway"/>
              <a:ea typeface="Raleway"/>
              <a:cs typeface="Raleway"/>
              <a:sym typeface="Raleway"/>
            </a:endParaRPr>
          </a:p>
        </p:txBody>
      </p:sp>
      <p:pic>
        <p:nvPicPr>
          <p:cNvPr id="10" name="Graphic 9">
            <a:extLst>
              <a:ext uri="{FF2B5EF4-FFF2-40B4-BE49-F238E27FC236}">
                <a16:creationId xmlns:a16="http://schemas.microsoft.com/office/drawing/2014/main" id="{3AE834DF-B01E-9846-CB3F-AD33E0388B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7629" y="3558924"/>
            <a:ext cx="1638300" cy="917092"/>
          </a:xfrm>
          <a:prstGeom prst="rect">
            <a:avLst/>
          </a:prstGeom>
        </p:spPr>
      </p:pic>
      <p:pic>
        <p:nvPicPr>
          <p:cNvPr id="12" name="Graphic 11">
            <a:extLst>
              <a:ext uri="{FF2B5EF4-FFF2-40B4-BE49-F238E27FC236}">
                <a16:creationId xmlns:a16="http://schemas.microsoft.com/office/drawing/2014/main" id="{E35A852F-C1C4-3865-5B35-46AFD714BC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7629" y="982038"/>
            <a:ext cx="1638300" cy="917091"/>
          </a:xfrm>
          <a:prstGeom prst="rect">
            <a:avLst/>
          </a:prstGeom>
        </p:spPr>
      </p:pic>
      <p:pic>
        <p:nvPicPr>
          <p:cNvPr id="14" name="Graphic 13">
            <a:extLst>
              <a:ext uri="{FF2B5EF4-FFF2-40B4-BE49-F238E27FC236}">
                <a16:creationId xmlns:a16="http://schemas.microsoft.com/office/drawing/2014/main" id="{5D5AA904-73EF-4BFB-C31F-72BB2964505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3898" y="2264697"/>
            <a:ext cx="1638301" cy="917092"/>
          </a:xfrm>
          <a:prstGeom prst="rect">
            <a:avLst/>
          </a:prstGeom>
        </p:spPr>
      </p:pic>
      <p:pic>
        <p:nvPicPr>
          <p:cNvPr id="16" name="Graphic 15">
            <a:extLst>
              <a:ext uri="{FF2B5EF4-FFF2-40B4-BE49-F238E27FC236}">
                <a16:creationId xmlns:a16="http://schemas.microsoft.com/office/drawing/2014/main" id="{F9D9D42C-E3CC-EBA4-F68B-84F34B9BF6E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87887" y="982038"/>
            <a:ext cx="5778484" cy="32721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2362"/>
    </mc:Choice>
    <mc:Fallback xmlns="">
      <p:transition spd="slow" advTm="7236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7"/>
        <p:cNvGrpSpPr/>
        <p:nvPr/>
      </p:nvGrpSpPr>
      <p:grpSpPr>
        <a:xfrm>
          <a:off x="0" y="0"/>
          <a:ext cx="0" cy="0"/>
          <a:chOff x="0" y="0"/>
          <a:chExt cx="0" cy="0"/>
        </a:xfrm>
      </p:grpSpPr>
      <p:sp>
        <p:nvSpPr>
          <p:cNvPr id="198" name="Google Shape;198;p34"/>
          <p:cNvSpPr txBox="1"/>
          <p:nvPr/>
        </p:nvSpPr>
        <p:spPr>
          <a:xfrm>
            <a:off x="645650" y="277800"/>
            <a:ext cx="8220600" cy="62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chemeClr val="dk1"/>
                </a:solidFill>
                <a:latin typeface="Unbounded ExtraBold"/>
                <a:ea typeface="Unbounded ExtraBold"/>
                <a:cs typeface="Unbounded ExtraBold"/>
                <a:sym typeface="Unbounded ExtraBold"/>
              </a:rPr>
              <a:t>After population matching – per-neuron signal</a:t>
            </a:r>
            <a:endParaRPr sz="1900">
              <a:solidFill>
                <a:schemeClr val="dk1"/>
              </a:solidFill>
              <a:latin typeface="Unbounded ExtraBold"/>
              <a:ea typeface="Unbounded ExtraBold"/>
              <a:cs typeface="Unbounded ExtraBold"/>
              <a:sym typeface="Unbounded ExtraBold"/>
            </a:endParaRPr>
          </a:p>
        </p:txBody>
      </p:sp>
      <p:sp>
        <p:nvSpPr>
          <p:cNvPr id="200" name="Google Shape;200;p34"/>
          <p:cNvSpPr txBox="1"/>
          <p:nvPr/>
        </p:nvSpPr>
        <p:spPr>
          <a:xfrm>
            <a:off x="1822000" y="4180975"/>
            <a:ext cx="6047100" cy="807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i="1" dirty="0">
                <a:solidFill>
                  <a:schemeClr val="dk1"/>
                </a:solidFill>
                <a:latin typeface="Raleway"/>
                <a:ea typeface="Raleway"/>
                <a:cs typeface="Raleway"/>
                <a:sym typeface="Raleway"/>
              </a:rPr>
              <a:t>AL is a naturalness detector, the same axis Experiment 2 found.</a:t>
            </a:r>
            <a:r>
              <a:rPr lang="en" dirty="0">
                <a:solidFill>
                  <a:schemeClr val="dk1"/>
                </a:solidFill>
                <a:latin typeface="Raleway"/>
                <a:ea typeface="Raleway"/>
                <a:cs typeface="Raleway"/>
                <a:sym typeface="Raleway"/>
              </a:rPr>
              <a:t> </a:t>
            </a:r>
            <a:endParaRPr dirty="0">
              <a:solidFill>
                <a:schemeClr val="dk1"/>
              </a:solidFill>
              <a:latin typeface="Raleway"/>
              <a:ea typeface="Raleway"/>
              <a:cs typeface="Raleway"/>
              <a:sym typeface="Raleway"/>
            </a:endParaRPr>
          </a:p>
          <a:p>
            <a:pPr marL="0" lvl="0" indent="0" algn="ctr" rtl="0">
              <a:spcBef>
                <a:spcPts val="0"/>
              </a:spcBef>
              <a:spcAft>
                <a:spcPts val="0"/>
              </a:spcAft>
              <a:buNone/>
            </a:pPr>
            <a:r>
              <a:rPr lang="en-GB" b="1" dirty="0">
                <a:solidFill>
                  <a:schemeClr val="dk1"/>
                </a:solidFill>
                <a:latin typeface="Raleway ExtraBold" pitchFamily="2" charset="77"/>
                <a:ea typeface="Raleway ExtraBold"/>
                <a:cs typeface="Raleway ExtraBold"/>
                <a:sym typeface="Raleway ExtraBold"/>
              </a:rPr>
              <a:t>AL DETECTS ARTIFICIALITY, NOT THE CATEGORY.</a:t>
            </a:r>
          </a:p>
          <a:p>
            <a:pPr marL="0" lvl="0" indent="0" algn="ctr" rtl="0">
              <a:spcBef>
                <a:spcPts val="0"/>
              </a:spcBef>
              <a:spcAft>
                <a:spcPts val="0"/>
              </a:spcAft>
              <a:buNone/>
            </a:pPr>
            <a:r>
              <a:rPr lang="en" i="1" dirty="0">
                <a:solidFill>
                  <a:schemeClr val="dk1"/>
                </a:solidFill>
                <a:latin typeface="Raleway"/>
                <a:ea typeface="Raleway"/>
                <a:cs typeface="Raleway"/>
                <a:sym typeface="Raleway"/>
              </a:rPr>
              <a:t>The same boundary, again.</a:t>
            </a:r>
            <a:endParaRPr sz="1700" dirty="0">
              <a:solidFill>
                <a:schemeClr val="dk1"/>
              </a:solidFill>
              <a:latin typeface="Raleway"/>
              <a:ea typeface="Raleway"/>
              <a:cs typeface="Raleway"/>
              <a:sym typeface="Raleway"/>
            </a:endParaRPr>
          </a:p>
        </p:txBody>
      </p:sp>
      <p:pic>
        <p:nvPicPr>
          <p:cNvPr id="3" name="Graphic 2">
            <a:extLst>
              <a:ext uri="{FF2B5EF4-FFF2-40B4-BE49-F238E27FC236}">
                <a16:creationId xmlns:a16="http://schemas.microsoft.com/office/drawing/2014/main" id="{A921752B-E1E7-7835-5267-A5278C01885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5194" y="935713"/>
            <a:ext cx="6521511" cy="32092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2198"/>
    </mc:Choice>
    <mc:Fallback xmlns="">
      <p:transition spd="slow" advTm="7219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5"/>
          <p:cNvSpPr txBox="1"/>
          <p:nvPr/>
        </p:nvSpPr>
        <p:spPr>
          <a:xfrm>
            <a:off x="1190528" y="3965746"/>
            <a:ext cx="6762943" cy="800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solidFill>
                  <a:schemeClr val="dk1"/>
                </a:solidFill>
                <a:latin typeface="Unbounded"/>
                <a:ea typeface="Unbounded"/>
                <a:cs typeface="Unbounded"/>
                <a:sym typeface="Unbounded"/>
              </a:rPr>
              <a:t>Linear methods sense the naturalness boundary </a:t>
            </a:r>
            <a:endParaRPr sz="1600" b="1" dirty="0">
              <a:solidFill>
                <a:schemeClr val="dk1"/>
              </a:solidFill>
              <a:latin typeface="Unbounded"/>
              <a:ea typeface="Unbounded"/>
              <a:cs typeface="Unbounded"/>
              <a:sym typeface="Unbounded"/>
            </a:endParaRPr>
          </a:p>
          <a:p>
            <a:pPr marL="0" lvl="0" indent="0" algn="ctr" rtl="0">
              <a:spcBef>
                <a:spcPts val="0"/>
              </a:spcBef>
              <a:spcAft>
                <a:spcPts val="0"/>
              </a:spcAft>
              <a:buNone/>
            </a:pPr>
            <a:r>
              <a:rPr lang="en" sz="1600" b="1" dirty="0">
                <a:solidFill>
                  <a:schemeClr val="dk1"/>
                </a:solidFill>
                <a:latin typeface="Unbounded"/>
                <a:ea typeface="Unbounded"/>
                <a:cs typeface="Unbounded"/>
                <a:sym typeface="Unbounded"/>
              </a:rPr>
              <a:t>but hit a ceiling for synthetic vs. synthetic</a:t>
            </a:r>
            <a:endParaRPr sz="1600" b="1" dirty="0">
              <a:solidFill>
                <a:schemeClr val="dk1"/>
              </a:solidFill>
              <a:latin typeface="Unbounded"/>
              <a:ea typeface="Unbounded"/>
              <a:cs typeface="Unbounded"/>
              <a:sym typeface="Unbounded"/>
            </a:endParaRPr>
          </a:p>
        </p:txBody>
      </p:sp>
      <p:graphicFrame>
        <p:nvGraphicFramePr>
          <p:cNvPr id="400" name="Limitations Table"/>
          <p:cNvGraphicFramePr>
            <a:graphicFrameLocks noGrp="1"/>
          </p:cNvGraphicFramePr>
          <p:nvPr>
            <p:extLst>
              <p:ext uri="{D42A27DB-BD31-4B8C-83A1-F6EECF244321}">
                <p14:modId xmlns:p14="http://schemas.microsoft.com/office/powerpoint/2010/main" val="812417242"/>
              </p:ext>
            </p:extLst>
          </p:nvPr>
        </p:nvGraphicFramePr>
        <p:xfrm>
          <a:off x="600000" y="900000"/>
          <a:ext cx="7944000" cy="2620000"/>
        </p:xfrm>
        <a:graphic>
          <a:graphicData uri="http://schemas.openxmlformats.org/drawingml/2006/table">
            <a:tbl>
              <a:tblPr firstRow="1">
                <a:tableStyleId>{2D5ABB26-0587-4C30-8999-92F81FD0307C}</a:tableStyleId>
              </a:tblPr>
              <a:tblGrid>
                <a:gridCol w="3700000">
                  <a:extLst>
                    <a:ext uri="{9D8B030D-6E8A-4147-A177-3AD203B41FA5}">
                      <a16:colId xmlns:a16="http://schemas.microsoft.com/office/drawing/2014/main" val="20000"/>
                    </a:ext>
                  </a:extLst>
                </a:gridCol>
                <a:gridCol w="4244000">
                  <a:extLst>
                    <a:ext uri="{9D8B030D-6E8A-4147-A177-3AD203B41FA5}">
                      <a16:colId xmlns:a16="http://schemas.microsoft.com/office/drawing/2014/main" val="20001"/>
                    </a:ext>
                  </a:extLst>
                </a:gridCol>
              </a:tblGrid>
              <a:tr h="460000">
                <a:tc>
                  <a:txBody>
                    <a:bodyPr/>
                    <a:lstStyle/>
                    <a:p>
                      <a:pPr marL="0" lvl="0" indent="0" algn="l" rtl="0">
                        <a:buNone/>
                      </a:pPr>
                      <a:r>
                        <a:rPr lang="en" sz="1300" b="1" u="sng" spc="300" dirty="0">
                          <a:solidFill>
                            <a:srgbClr val="2DD4BF"/>
                          </a:solidFill>
                          <a:latin typeface="Unbounded"/>
                          <a:ea typeface="Unbounded"/>
                          <a:cs typeface="Unbounded"/>
                          <a:sym typeface="Unbounded"/>
                        </a:rPr>
                        <a:t>LIMITATIONS</a:t>
                      </a:r>
                    </a:p>
                  </a:txBody>
                  <a:tcPr marL="0" marR="0" marT="0" marB="0">
                    <a:lnL w="0">
                      <a:noFill/>
                    </a:lnL>
                    <a:lnR w="0">
                      <a:noFill/>
                    </a:lnR>
                    <a:lnT w="0">
                      <a:noFill/>
                    </a:lnT>
                    <a:lnB w="12700" cap="flat" cmpd="sng" algn="ctr">
                      <a:solidFill>
                        <a:srgbClr val="404754"/>
                      </a:solidFill>
                      <a:prstDash val="solid"/>
                      <a:round/>
                    </a:lnB>
                    <a:noFill/>
                  </a:tcPr>
                </a:tc>
                <a:tc>
                  <a:txBody>
                    <a:bodyPr/>
                    <a:lstStyle/>
                    <a:p>
                      <a:pPr marL="0" lvl="0" indent="0" algn="l" rtl="0">
                        <a:buNone/>
                      </a:pPr>
                      <a:r>
                        <a:rPr lang="en" sz="1300" b="1" u="sng" spc="300" dirty="0">
                          <a:solidFill>
                            <a:srgbClr val="2DD4BF"/>
                          </a:solidFill>
                          <a:latin typeface="Unbounded"/>
                          <a:ea typeface="Unbounded"/>
                          <a:cs typeface="Unbounded"/>
                          <a:sym typeface="Unbounded"/>
                        </a:rPr>
                        <a:t>WHAT’S NEXT</a:t>
                      </a:r>
                    </a:p>
                  </a:txBody>
                  <a:tcPr marL="0" marR="0" marT="0" marB="0">
                    <a:lnL w="0">
                      <a:noFill/>
                    </a:lnL>
                    <a:lnR w="0">
                      <a:noFill/>
                    </a:lnR>
                    <a:lnT w="0">
                      <a:noFill/>
                    </a:lnT>
                    <a:lnB w="12700" cap="flat" cmpd="sng" algn="ctr">
                      <a:solidFill>
                        <a:srgbClr val="404754"/>
                      </a:solidFill>
                      <a:prstDash val="solid"/>
                      <a:round/>
                    </a:lnB>
                    <a:noFill/>
                  </a:tcPr>
                </a:tc>
                <a:extLst>
                  <a:ext uri="{0D108BD9-81ED-4DB2-BD59-A6C34878D82A}">
                    <a16:rowId xmlns:a16="http://schemas.microsoft.com/office/drawing/2014/main" val="10000"/>
                  </a:ext>
                </a:extLst>
              </a:tr>
              <a:tr h="720000">
                <a:tc>
                  <a:txBody>
                    <a:bodyPr/>
                    <a:lstStyle/>
                    <a:p>
                      <a:pPr marL="0" lvl="0" indent="0" algn="l" rtl="0">
                        <a:buNone/>
                      </a:pPr>
                      <a:r>
                        <a:rPr lang="en" sz="1500" b="1" dirty="0">
                          <a:solidFill>
                            <a:schemeClr val="dk1"/>
                          </a:solidFill>
                          <a:latin typeface="Raleway"/>
                          <a:ea typeface="Raleway"/>
                          <a:cs typeface="Raleway"/>
                          <a:sym typeface="Raleway"/>
                        </a:rPr>
                        <a:t>Linear methods may miss</a:t>
                      </a:r>
                    </a:p>
                    <a:p>
                      <a:pPr marL="0" lvl="0" indent="0" algn="l" rtl="0">
                        <a:buNone/>
                      </a:pPr>
                      <a:r>
                        <a:rPr lang="en" sz="1500" b="1" dirty="0">
                          <a:solidFill>
                            <a:schemeClr val="dk1"/>
                          </a:solidFill>
                          <a:latin typeface="Raleway"/>
                          <a:ea typeface="Raleway"/>
                          <a:cs typeface="Raleway"/>
                          <a:sym typeface="Raleway"/>
                        </a:rPr>
                        <a:t>non-linear structure</a:t>
                      </a:r>
                    </a:p>
                  </a:txBody>
                  <a:tcPr marL="0" marR="0" marT="0" marB="0">
                    <a:lnL w="0">
                      <a:noFill/>
                    </a:lnL>
                    <a:lnR w="0">
                      <a:noFill/>
                    </a:lnR>
                    <a:lnT w="12700" cap="flat" cmpd="sng" algn="ctr">
                      <a:solidFill>
                        <a:srgbClr val="404754"/>
                      </a:solidFill>
                      <a:prstDash val="solid"/>
                      <a:round/>
                    </a:lnT>
                    <a:lnB w="12700" cap="flat" cmpd="sng" algn="ctr">
                      <a:solidFill>
                        <a:srgbClr val="404754"/>
                      </a:solidFill>
                      <a:prstDash val="solid"/>
                      <a:round/>
                    </a:lnB>
                    <a:noFill/>
                  </a:tcPr>
                </a:tc>
                <a:tc>
                  <a:txBody>
                    <a:bodyPr/>
                    <a:lstStyle/>
                    <a:p>
                      <a:pPr marL="0" lvl="0" indent="0" algn="l" rtl="0">
                        <a:buNone/>
                      </a:pPr>
                      <a:r>
                        <a:rPr lang="en" sz="1500" b="1" dirty="0">
                          <a:solidFill>
                            <a:srgbClr val="2DD4BF"/>
                          </a:solidFill>
                          <a:latin typeface="Unbounded"/>
                          <a:ea typeface="Unbounded"/>
                          <a:cs typeface="Unbounded"/>
                          <a:sym typeface="Unbounded"/>
                        </a:rPr>
                        <a:t>CEBRA</a:t>
                      </a:r>
                      <a:r>
                        <a:rPr lang="en" sz="1500" dirty="0">
                          <a:solidFill>
                            <a:schemeClr val="dk1"/>
                          </a:solidFill>
                          <a:latin typeface="Raleway"/>
                          <a:ea typeface="Raleway"/>
                          <a:cs typeface="Raleway"/>
                          <a:sym typeface="Raleway"/>
                        </a:rPr>
                        <a:t> or manifold embeddings</a:t>
                      </a:r>
                    </a:p>
                    <a:p>
                      <a:pPr marL="0" lvl="0" indent="0" algn="l" rtl="0">
                        <a:buNone/>
                      </a:pPr>
                      <a:r>
                        <a:rPr lang="en" sz="1200" i="1" dirty="0">
                          <a:solidFill>
                            <a:schemeClr val="accent6">
                              <a:lumMod val="85000"/>
                            </a:schemeClr>
                          </a:solidFill>
                          <a:latin typeface="Raleway"/>
                          <a:ea typeface="Raleway"/>
                          <a:cs typeface="Raleway"/>
                          <a:sym typeface="Raleway"/>
                        </a:rPr>
                        <a:t>designed for exactly this regime</a:t>
                      </a:r>
                    </a:p>
                  </a:txBody>
                  <a:tcPr marL="0" marR="0" marT="0" marB="0">
                    <a:lnL w="0">
                      <a:noFill/>
                    </a:lnL>
                    <a:lnR w="0">
                      <a:noFill/>
                    </a:lnR>
                    <a:lnT w="12700" cap="flat" cmpd="sng" algn="ctr">
                      <a:solidFill>
                        <a:srgbClr val="404754"/>
                      </a:solidFill>
                      <a:prstDash val="solid"/>
                      <a:round/>
                    </a:lnT>
                    <a:lnB w="12700" cap="flat" cmpd="sng" algn="ctr">
                      <a:solidFill>
                        <a:srgbClr val="404754"/>
                      </a:solidFill>
                      <a:prstDash val="solid"/>
                      <a:round/>
                    </a:lnB>
                    <a:noFill/>
                  </a:tcPr>
                </a:tc>
                <a:extLst>
                  <a:ext uri="{0D108BD9-81ED-4DB2-BD59-A6C34878D82A}">
                    <a16:rowId xmlns:a16="http://schemas.microsoft.com/office/drawing/2014/main" val="10001"/>
                  </a:ext>
                </a:extLst>
              </a:tr>
              <a:tr h="720000">
                <a:tc>
                  <a:txBody>
                    <a:bodyPr/>
                    <a:lstStyle/>
                    <a:p>
                      <a:pPr marL="0" lvl="0" indent="0" algn="l" rtl="0">
                        <a:buNone/>
                      </a:pPr>
                      <a:r>
                        <a:rPr lang="en" sz="1500" b="1">
                          <a:solidFill>
                            <a:schemeClr val="dk1"/>
                          </a:solidFill>
                          <a:latin typeface="Raleway"/>
                          <a:ea typeface="Raleway"/>
                          <a:cs typeface="Raleway"/>
                          <a:sym typeface="Raleway"/>
                        </a:rPr>
                        <a:t>Single session (7_5) —</a:t>
                      </a:r>
                    </a:p>
                    <a:p>
                      <a:pPr marL="0" lvl="0" indent="0" algn="l" rtl="0">
                        <a:buNone/>
                      </a:pPr>
                      <a:r>
                        <a:rPr lang="en" sz="1500" b="1">
                          <a:solidFill>
                            <a:schemeClr val="dk1"/>
                          </a:solidFill>
                          <a:latin typeface="Raleway"/>
                          <a:ea typeface="Raleway"/>
                          <a:cs typeface="Raleway"/>
                          <a:sym typeface="Raleway"/>
                        </a:rPr>
                        <a:t>cohort generalization untested</a:t>
                      </a:r>
                    </a:p>
                  </a:txBody>
                  <a:tcPr marL="0" marR="0" marT="0" marB="0">
                    <a:lnL w="0">
                      <a:noFill/>
                    </a:lnL>
                    <a:lnR w="0">
                      <a:noFill/>
                    </a:lnR>
                    <a:lnT w="12700" cap="flat" cmpd="sng" algn="ctr">
                      <a:solidFill>
                        <a:srgbClr val="404754"/>
                      </a:solidFill>
                      <a:prstDash val="solid"/>
                      <a:round/>
                    </a:lnT>
                    <a:lnB w="12700" cap="flat" cmpd="sng" algn="ctr">
                      <a:solidFill>
                        <a:srgbClr val="404754"/>
                      </a:solidFill>
                      <a:prstDash val="solid"/>
                      <a:round/>
                    </a:lnB>
                    <a:noFill/>
                  </a:tcPr>
                </a:tc>
                <a:tc>
                  <a:txBody>
                    <a:bodyPr/>
                    <a:lstStyle/>
                    <a:p>
                      <a:pPr marL="0" lvl="0" indent="0" algn="l" rtl="0">
                        <a:buNone/>
                      </a:pPr>
                      <a:r>
                        <a:rPr lang="en" sz="1500" b="1" dirty="0">
                          <a:solidFill>
                            <a:schemeClr val="dk1"/>
                          </a:solidFill>
                          <a:latin typeface="Raleway"/>
                          <a:ea typeface="Raleway"/>
                          <a:cs typeface="Raleway"/>
                          <a:sym typeface="Raleway"/>
                        </a:rPr>
                        <a:t>Cross-session replication</a:t>
                      </a:r>
                    </a:p>
                  </a:txBody>
                  <a:tcPr marL="0" marR="0" marT="0" marB="0">
                    <a:lnL w="0">
                      <a:noFill/>
                    </a:lnL>
                    <a:lnR w="0">
                      <a:noFill/>
                    </a:lnR>
                    <a:lnT w="12700" cap="flat" cmpd="sng" algn="ctr">
                      <a:solidFill>
                        <a:srgbClr val="404754"/>
                      </a:solidFill>
                      <a:prstDash val="solid"/>
                      <a:round/>
                    </a:lnT>
                    <a:lnB w="12700" cap="flat" cmpd="sng" algn="ctr">
                      <a:solidFill>
                        <a:srgbClr val="404754"/>
                      </a:solidFill>
                      <a:prstDash val="solid"/>
                      <a:round/>
                    </a:lnB>
                    <a:noFill/>
                  </a:tcPr>
                </a:tc>
                <a:extLst>
                  <a:ext uri="{0D108BD9-81ED-4DB2-BD59-A6C34878D82A}">
                    <a16:rowId xmlns:a16="http://schemas.microsoft.com/office/drawing/2014/main" val="10002"/>
                  </a:ext>
                </a:extLst>
              </a:tr>
              <a:tr h="720000">
                <a:tc>
                  <a:txBody>
                    <a:bodyPr/>
                    <a:lstStyle/>
                    <a:p>
                      <a:pPr marL="0" lvl="0" indent="0" algn="l" rtl="0">
                        <a:buNone/>
                      </a:pPr>
                      <a:r>
                        <a:rPr lang="en" sz="1500" b="1" dirty="0" err="1">
                          <a:solidFill>
                            <a:schemeClr val="dk1"/>
                          </a:solidFill>
                          <a:latin typeface="Raleway"/>
                          <a:ea typeface="Raleway"/>
                          <a:cs typeface="Raleway"/>
                          <a:sym typeface="Raleway"/>
                        </a:rPr>
                        <a:t>Connectomics</a:t>
                      </a:r>
                      <a:r>
                        <a:rPr lang="en" sz="1500" b="1" dirty="0">
                          <a:solidFill>
                            <a:schemeClr val="dk1"/>
                          </a:solidFill>
                          <a:latin typeface="Raleway"/>
                          <a:ea typeface="Raleway"/>
                          <a:cs typeface="Raleway"/>
                          <a:sym typeface="Raleway"/>
                        </a:rPr>
                        <a:t> unused —</a:t>
                      </a:r>
                    </a:p>
                    <a:p>
                      <a:pPr marL="0" lvl="0" indent="0" algn="l" rtl="0">
                        <a:buNone/>
                      </a:pPr>
                      <a:r>
                        <a:rPr lang="en" sz="1500" b="1" dirty="0">
                          <a:solidFill>
                            <a:schemeClr val="dk1"/>
                          </a:solidFill>
                          <a:latin typeface="Raleway"/>
                          <a:ea typeface="Raleway"/>
                          <a:cs typeface="Raleway"/>
                          <a:sym typeface="Raleway"/>
                        </a:rPr>
                        <a:t>structural link untested</a:t>
                      </a:r>
                    </a:p>
                  </a:txBody>
                  <a:tcPr marL="0" marR="0" marT="0" marB="0">
                    <a:lnL w="0">
                      <a:noFill/>
                    </a:lnL>
                    <a:lnR w="0">
                      <a:noFill/>
                    </a:lnR>
                    <a:lnT w="12700" cap="flat" cmpd="sng" algn="ctr">
                      <a:solidFill>
                        <a:srgbClr val="404754"/>
                      </a:solidFill>
                      <a:prstDash val="solid"/>
                      <a:round/>
                    </a:lnT>
                    <a:lnB w="12700" cap="flat" cmpd="sng" algn="ctr">
                      <a:solidFill>
                        <a:srgbClr val="404754"/>
                      </a:solidFill>
                      <a:prstDash val="solid"/>
                      <a:round/>
                    </a:lnB>
                    <a:noFill/>
                  </a:tcPr>
                </a:tc>
                <a:tc>
                  <a:txBody>
                    <a:bodyPr/>
                    <a:lstStyle/>
                    <a:p>
                      <a:pPr marL="0" lvl="0" indent="0" algn="l" rtl="0">
                        <a:buNone/>
                      </a:pPr>
                      <a:r>
                        <a:rPr lang="en" sz="1500" b="1" dirty="0">
                          <a:solidFill>
                            <a:srgbClr val="2DD4BF"/>
                          </a:solidFill>
                          <a:latin typeface="Unbounded"/>
                          <a:ea typeface="Unbounded"/>
                          <a:cs typeface="Unbounded"/>
                          <a:sym typeface="Unbounded"/>
                        </a:rPr>
                        <a:t>Functional</a:t>
                      </a:r>
                      <a:r>
                        <a:rPr lang="en" sz="1500" dirty="0">
                          <a:solidFill>
                            <a:schemeClr val="dk1"/>
                          </a:solidFill>
                          <a:latin typeface="Raleway"/>
                          <a:ea typeface="Raleway"/>
                          <a:cs typeface="Raleway"/>
                          <a:sym typeface="Raleway"/>
                        </a:rPr>
                        <a:t> </a:t>
                      </a:r>
                      <a:r>
                        <a:rPr lang="en-IT" sz="1400" dirty="0">
                          <a:solidFill>
                            <a:schemeClr val="bg2"/>
                          </a:solidFill>
                          <a:latin typeface="Raleway" pitchFamily="2" charset="77"/>
                        </a:rPr>
                        <a:t>⇔</a:t>
                      </a:r>
                      <a:r>
                        <a:rPr lang="en" sz="1500" dirty="0">
                          <a:solidFill>
                            <a:schemeClr val="dk1"/>
                          </a:solidFill>
                          <a:latin typeface="Raleway"/>
                          <a:ea typeface="Raleway"/>
                          <a:cs typeface="Raleway"/>
                          <a:sym typeface="Raleway"/>
                        </a:rPr>
                        <a:t> </a:t>
                      </a:r>
                      <a:r>
                        <a:rPr lang="en" sz="1500" b="1" dirty="0">
                          <a:solidFill>
                            <a:srgbClr val="2DD4BF"/>
                          </a:solidFill>
                          <a:latin typeface="Unbounded"/>
                          <a:ea typeface="Unbounded"/>
                          <a:cs typeface="Unbounded"/>
                          <a:sym typeface="Unbounded"/>
                        </a:rPr>
                        <a:t>structural</a:t>
                      </a:r>
                      <a:r>
                        <a:rPr lang="en" sz="1500" dirty="0">
                          <a:solidFill>
                            <a:schemeClr val="dk1"/>
                          </a:solidFill>
                          <a:latin typeface="Raleway"/>
                          <a:ea typeface="Raleway"/>
                          <a:cs typeface="Raleway"/>
                          <a:sym typeface="Raleway"/>
                        </a:rPr>
                        <a:t> link</a:t>
                      </a:r>
                    </a:p>
                    <a:p>
                      <a:pPr marL="0" lvl="0" indent="0" algn="l" rtl="0">
                        <a:spcBef>
                          <a:spcPts val="0"/>
                        </a:spcBef>
                        <a:spcAft>
                          <a:spcPts val="0"/>
                        </a:spcAft>
                        <a:buNone/>
                      </a:pPr>
                      <a:r>
                        <a:rPr lang="en" sz="1200" i="1" dirty="0">
                          <a:solidFill>
                            <a:schemeClr val="accent6">
                              <a:lumMod val="85000"/>
                            </a:schemeClr>
                          </a:solidFill>
                          <a:latin typeface="Raleway"/>
                          <a:ea typeface="Raleway"/>
                          <a:cs typeface="Raleway"/>
                          <a:sym typeface="Raleway"/>
                        </a:rPr>
                        <a:t>use the connectome to test whether functional </a:t>
                      </a:r>
                    </a:p>
                    <a:p>
                      <a:pPr marL="0" lvl="0" indent="0" algn="l" rtl="0">
                        <a:spcBef>
                          <a:spcPts val="0"/>
                        </a:spcBef>
                        <a:spcAft>
                          <a:spcPts val="0"/>
                        </a:spcAft>
                        <a:buNone/>
                      </a:pPr>
                      <a:r>
                        <a:rPr lang="en" sz="1200" i="1" dirty="0">
                          <a:solidFill>
                            <a:schemeClr val="accent6">
                              <a:lumMod val="85000"/>
                            </a:schemeClr>
                          </a:solidFill>
                          <a:latin typeface="Raleway"/>
                          <a:ea typeface="Raleway"/>
                          <a:cs typeface="Raleway"/>
                          <a:sym typeface="Raleway"/>
                        </a:rPr>
                        <a:t>clusters reflect wiring</a:t>
                      </a:r>
                    </a:p>
                  </a:txBody>
                  <a:tcPr marL="0" marR="0" marT="0" marB="0">
                    <a:lnL w="0">
                      <a:noFill/>
                    </a:lnL>
                    <a:lnR w="0">
                      <a:noFill/>
                    </a:lnR>
                    <a:lnT w="12700" cap="flat" cmpd="sng" algn="ctr">
                      <a:solidFill>
                        <a:srgbClr val="404754"/>
                      </a:solidFill>
                      <a:prstDash val="solid"/>
                      <a:round/>
                    </a:lnT>
                    <a:lnB w="12700" cap="flat" cmpd="sng" algn="ctr">
                      <a:solidFill>
                        <a:srgbClr val="404754"/>
                      </a:solidFill>
                      <a:prstDash val="solid"/>
                      <a:round/>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82528"/>
    </mc:Choice>
    <mc:Fallback xmlns="">
      <p:transition spd="slow" advTm="8252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6"/>
          <p:cNvSpPr txBox="1"/>
          <p:nvPr/>
        </p:nvSpPr>
        <p:spPr>
          <a:xfrm>
            <a:off x="1387500" y="2105700"/>
            <a:ext cx="6369000" cy="93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500">
                <a:solidFill>
                  <a:schemeClr val="dk1"/>
                </a:solidFill>
                <a:latin typeface="Unbounded Black"/>
                <a:ea typeface="Unbounded Black"/>
                <a:cs typeface="Unbounded Black"/>
                <a:sym typeface="Unbounded Black"/>
              </a:rPr>
              <a:t>Any questions?</a:t>
            </a:r>
            <a:endParaRPr>
              <a:solidFill>
                <a:schemeClr val="dk1"/>
              </a:solidFill>
              <a:latin typeface="Unbounded"/>
              <a:ea typeface="Unbounded"/>
              <a:cs typeface="Unbounded"/>
              <a:sym typeface="Unbounde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7"/>
          <p:cNvSpPr txBox="1">
            <a:spLocks noGrp="1"/>
          </p:cNvSpPr>
          <p:nvPr>
            <p:ph type="title"/>
          </p:nvPr>
        </p:nvSpPr>
        <p:spPr>
          <a:xfrm>
            <a:off x="2154600" y="2105700"/>
            <a:ext cx="4834800" cy="93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dirty="0">
                <a:latin typeface="Unbounded Black"/>
                <a:ea typeface="Unbounded Black"/>
                <a:cs typeface="Unbounded Black"/>
                <a:sym typeface="Unbounded Black"/>
              </a:rPr>
              <a:t>THANK</a:t>
            </a:r>
            <a:r>
              <a:rPr lang="en" sz="4500" dirty="0"/>
              <a:t> </a:t>
            </a:r>
            <a:r>
              <a:rPr lang="en" sz="4500" b="1" dirty="0">
                <a:latin typeface="Unbounded"/>
                <a:ea typeface="Unbounded"/>
                <a:cs typeface="Unbounded"/>
                <a:sym typeface="Unbounded"/>
              </a:rPr>
              <a:t>YOU!</a:t>
            </a:r>
            <a:endParaRPr sz="4500" b="1" dirty="0">
              <a:latin typeface="Unbounded"/>
              <a:ea typeface="Unbounded"/>
              <a:cs typeface="Unbounded"/>
              <a:sym typeface="Unbounded"/>
            </a:endParaRPr>
          </a:p>
        </p:txBody>
      </p:sp>
    </p:spTree>
  </p:cSld>
  <p:clrMapOvr>
    <a:masterClrMapping/>
  </p:clrMapOvr>
</p:sld>
</file>

<file path=ppt/theme/theme1.xml><?xml version="1.0" encoding="utf-8"?>
<a:theme xmlns:a="http://schemas.openxmlformats.org/drawingml/2006/main" name="Future Technology Trends by Slidesgo">
  <a:themeElements>
    <a:clrScheme name="Simple Light">
      <a:dk1>
        <a:srgbClr val="FFFFFF"/>
      </a:dk1>
      <a:lt1>
        <a:srgbClr val="0B0F1A"/>
      </a:lt1>
      <a:dk2>
        <a:srgbClr val="FFFFFF"/>
      </a:dk2>
      <a:lt2>
        <a:srgbClr val="2DD4BF"/>
      </a:lt2>
      <a:accent1>
        <a:srgbClr val="2DD4B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1746</TotalTime>
  <Words>2484</Words>
  <Application>Microsoft Macintosh PowerPoint</Application>
  <PresentationFormat>On-screen Show (16:9)</PresentationFormat>
  <Paragraphs>208</Paragraphs>
  <Slides>14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Unbounded</vt:lpstr>
      <vt:lpstr>Raleway ExtraBold</vt:lpstr>
      <vt:lpstr>Unbounded Black</vt:lpstr>
      <vt:lpstr>Inter</vt:lpstr>
      <vt:lpstr>Unbounded ExtraBold</vt:lpstr>
      <vt:lpstr>Raleway</vt:lpstr>
      <vt:lpstr>Unbounded Light</vt:lpstr>
      <vt:lpstr>Future Technology Trends by Slidesgo</vt:lpstr>
      <vt:lpstr>THE SHAPE OF A STIMULUS Trajectory Geometry of Mouse Neuron Population 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Associazione Studentesca Hephaestus Applied Artificial Intelligence Association</cp:lastModifiedBy>
  <cp:revision>7</cp:revision>
  <dcterms:modified xsi:type="dcterms:W3CDTF">2026-05-13T13:17:54Z</dcterms:modified>
</cp:coreProperties>
</file>
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Inter" panose="02000503000000020004"/>
      <p:regular r:id="rId17"/>
      <p:bold r:id="rId18"/>
      <p:italic r:id="rId19"/>
      <p:boldItalic r:id="rId20"/>
    </p:embeddedFont>
    <p:embeddedFont>
      <p:font typeface="Raleway" pitchFamily="2" charset="77"/>
      <p:regular r:id="rId21"/>
      <p:bold r:id="rId22"/>
      <p:italic r:id="rId23"/>
      <p:boldItalic r:id="rId24"/>
    </p:embeddedFont>
    <p:embeddedFont>
      <p:font typeface="Raleway ExtraBold" pitchFamily="2" charset="77"/>
      <p:bold r:id="rId25"/>
      <p:italic r:id="rId26"/>
      <p:boldItalic r:id="rId27"/>
    </p:embeddedFont>
    <p:embeddedFont>
      <p:font typeface="Unbounded" pitchFamily="2" charset="77"/>
      <p:regular r:id="rId28"/>
      <p:bold r:id="rId29"/>
    </p:embeddedFont>
    <p:embeddedFont>
      <p:font typeface="Unbounded Black"/>
      <p:bold r:id="rId30"/>
    </p:embeddedFont>
    <p:embeddedFont>
      <p:font typeface="Unbounded ExtraBold"/>
      <p:bold r:id="rId31"/>
    </p:embeddedFont>
    <p:embeddedFont>
      <p:font typeface="Unbounded Light" pitchFamily="2" charset="77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79A7"/>
    <a:srgbClr val="D55E00"/>
    <a:srgbClr val="56B4E9"/>
    <a:srgbClr val="34D399"/>
    <a:srgbClr val="F472B6"/>
    <a:srgbClr val="60A5FA"/>
    <a:srgbClr val="2DD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E447C7-36CF-47F4-90E5-65D90B6470D5}">
  <a:tblStyle styleId="{F3E447C7-36CF-47F4-90E5-65D90B6470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1"/>
    <p:restoredTop sz="94631"/>
  </p:normalViewPr>
  <p:slideViewPr>
    <p:cSldViewPr snapToGrid="0">
      <p:cViewPr varScale="1">
        <p:scale>
          <a:sx n="160" d="100"/>
          <a:sy n="160" d="100"/>
        </p:scale>
        <p:origin x="1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e1d838b62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e1d838b62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research question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72724f271d8646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b72724f271d8646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research question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b72724f271d8646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b72724f271d8646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"MICrONS gives us two kinds of data — anatomical connectivity and functional recordings. We use only the functional side." </a:t>
            </a:r>
            <a:r>
              <a:rPr lang="en" i="1">
                <a:solidFill>
                  <a:schemeClr val="dk1"/>
                </a:solidFill>
              </a:rPr>
              <a:t>(brief pause, gesture at slide)</a:t>
            </a:r>
            <a:r>
              <a:rPr lang="en">
                <a:solidFill>
                  <a:schemeClr val="dk1"/>
                </a:solidFill>
              </a:rPr>
              <a:t> "Around eight thousand neurons recorded </a:t>
            </a:r>
            <a:r>
              <a:rPr lang="en" b="1">
                <a:solidFill>
                  <a:schemeClr val="dk1"/>
                </a:solidFill>
              </a:rPr>
              <a:t>simultaneously</a:t>
            </a:r>
            <a:r>
              <a:rPr lang="en">
                <a:solidFill>
                  <a:schemeClr val="dk1"/>
                </a:solidFill>
              </a:rPr>
              <a:t> across four visual cortical areas, while the mouse watches videos. That simultaneity is what makes a population-level geometric question possible at all." </a:t>
            </a:r>
            <a:r>
              <a:rPr lang="en" i="1">
                <a:solidFill>
                  <a:schemeClr val="dk1"/>
                </a:solidFill>
              </a:rPr>
              <a:t>(point to each panel)</a:t>
            </a:r>
            <a:r>
              <a:rPr lang="en">
                <a:solidFill>
                  <a:schemeClr val="dk1"/>
                </a:solidFill>
              </a:rPr>
              <a:t> "Three stimulus classes: natural movies — Clip; grey-scale textures — Monet2; synthetic wave patterns — Trippy. These three colors stay with us for the rest of the talk."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DO: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- Change pictures, I don't like them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b72724f271d8646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b72724f271d8646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MICrONS has 14 recording sessions. We surveyed all of them — five summary metrics per session, z-scored across the cohort." </a:t>
            </a:r>
            <a:r>
              <a:rPr lang="en" i="1">
                <a:solidFill>
                  <a:schemeClr val="dk1"/>
                </a:solidFill>
              </a:rPr>
              <a:t>(slide reveals)</a:t>
            </a:r>
            <a:r>
              <a:rPr lang="en">
                <a:solidFill>
                  <a:schemeClr val="dk1"/>
                </a:solidFill>
              </a:rPr>
              <a:t> "Three sessions cross the |z| = 2 threshold: one with extreme response magnitudes, one with an unusually large field of view, one with frequent running." </a:t>
            </a:r>
            <a:r>
              <a:rPr lang="en" i="1">
                <a:solidFill>
                  <a:schemeClr val="dk1"/>
                </a:solidFill>
              </a:rPr>
              <a:t>(point to highlighted bar)</a:t>
            </a:r>
            <a:r>
              <a:rPr lang="en">
                <a:solidFill>
                  <a:schemeClr val="dk1"/>
                </a:solidFill>
              </a:rPr>
              <a:t> "Session 7_5 sits at the clean end — |z| under 1.31 on every metric, neuron count right at the cohort median. That's our deep-dive session." "Within it: 453 trials, 377 Clip, 38 Monet2, 38 Trippy — interleaved across the session, so slow drift can't masquerade as class identity.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b72724f271d8646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b72724f271d8646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Two preprocessing decisions worth showing." </a:t>
            </a:r>
            <a:r>
              <a:rPr lang="en" i="1">
                <a:solidFill>
                  <a:schemeClr val="dk1"/>
                </a:solidFill>
              </a:rPr>
              <a:t>(slide reveals)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"First — running. Mouse locomotion modulates V1 activity. We found a strong negative correlation — −0.39 — between treadmill speed and per-trial mean activity, driven by these eleven outlier trials with high running. Removing those eleven brings the correlation down to −0.22, safely below threshold. Class balance is preserved."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"Second — photobleaching. Calcium fluorescence decays about 45% across the session. Without correction, that drift would dominate any PCA. We fit a linear detrend per trial."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INSERT SOMEWHERE (don't know where yet): Variance scales with the mean here, so z-scoring is more appropriate than a square-root transform.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629ad6421296ce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629ad6421296ce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Our first experiment: collapse each trial to a single mean activity vector. One point per trial. Run PCA per cortical area. Look for clusters." </a:t>
            </a:r>
            <a:r>
              <a:rPr lang="en" i="1">
                <a:solidFill>
                  <a:schemeClr val="dk1"/>
                </a:solidFill>
              </a:rPr>
              <a:t>(slide reveals)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to plot)</a:t>
            </a:r>
            <a:r>
              <a:rPr lang="en">
                <a:solidFill>
                  <a:schemeClr val="dk1"/>
                </a:solidFill>
              </a:rPr>
              <a:t> "In V1, Clip separates cleanly. But Monet2 and Trippy collapse onto each other — to PCA they look like the same stimulus."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to 98.9%)</a:t>
            </a:r>
            <a:r>
              <a:rPr lang="en">
                <a:solidFill>
                  <a:schemeClr val="dk1"/>
                </a:solidFill>
              </a:rPr>
              <a:t> "Here's the catch. A logistic regression classifier on the same trial-mean vectors hits 98.9% on V1 — and over 94% in every area, well above the 83% majority baseline. So the discriminative signal </a:t>
            </a:r>
            <a:r>
              <a:rPr lang="en" i="1">
                <a:solidFill>
                  <a:schemeClr val="dk1"/>
                </a:solidFill>
              </a:rPr>
              <a:t>is</a:t>
            </a:r>
            <a:r>
              <a:rPr lang="en">
                <a:solidFill>
                  <a:schemeClr val="dk1"/>
                </a:solidFill>
              </a:rPr>
              <a:t> in those vectors. PCA just isn't aligned with it. The high-variance directions PCA prioritizes — drift, arousal, global state — aren't the directions that separate the classes."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Two diagnoses motivate the next experiment: the directions PCA finds aren't the discriminative ones. And trial-averaging itself may be hiding Monet2 vs Trippy. Both point to keeping the time axis.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AGGIUSTARE PLOT e aggiungere link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OVERALL AGGIUSTARE DESIGN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ab26d7ba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ab26d7ba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"Hypothesis from Experiment 1: trial-averaging may have hidden the Monet2-vs-Trippy distinction. So we kept the time axis."</a:t>
            </a:r>
            <a:endParaRPr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(slide reveals)</a:t>
            </a:r>
            <a:endParaRPr i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"For each stimulus class, we average trials frame-by-frame to get a 75-frame trajectory. Then project all three trajectories into PC space, area by area." </a:t>
            </a:r>
            <a:r>
              <a:rPr lang="en" i="1">
                <a:solidFill>
                  <a:schemeClr val="dk1"/>
                </a:solidFill>
              </a:rPr>
              <a:t>(let it land)</a:t>
            </a:r>
            <a:endParaRPr i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to grid)</a:t>
            </a:r>
            <a:endParaRPr i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"And we get this. Three cleanly separated regions in every cortical area — V1, LM, RL, AL. The blobs are stationary, not dynamic — each stimulus has a fixed address in state space, and frames cluster inside it. Looks like the time axis recovered the signal."</a:t>
            </a:r>
            <a:endParaRPr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(beat, then transition)</a:t>
            </a:r>
            <a:endParaRPr i="1">
              <a:solidFill>
                <a:schemeClr val="dk1"/>
              </a:solidFill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"But before we celebrate — how confident can we be?"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FARE MEGLIO PLOT!!!! FA CACARE COSì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b26d7ba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ab26d7ba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"Before we celebrate the pretty picture from the last slide — there's a problem with that test." </a:t>
            </a:r>
            <a:r>
              <a:rPr lang="en" i="1">
                <a:solidFill>
                  <a:schemeClr val="dk1"/>
                </a:solidFill>
              </a:rPr>
              <a:t>(beat)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"We fit PCA on the real-label trial averages. Then to compute the null distribution, we projected shuffled-label data through the </a:t>
            </a:r>
            <a:r>
              <a:rPr lang="en" i="1">
                <a:solidFill>
                  <a:schemeClr val="dk1"/>
                </a:solidFill>
              </a:rPr>
              <a:t>same</a:t>
            </a:r>
            <a:r>
              <a:rPr lang="en">
                <a:solidFill>
                  <a:schemeClr val="dk1"/>
                </a:solidFill>
              </a:rPr>
              <a:t> PCs. By construction, those PCs maximize between-class variance under real labels — so they amplify real distances relative to the shuffle null. The PC-space test was biased."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(slight pause, gesture at chart)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"So we redid the test honestly: full feature space, all neurons, no projection. These are the p-values across all four areas, for each pair." </a:t>
            </a:r>
            <a:r>
              <a:rPr lang="en" i="1">
                <a:solidFill>
                  <a:schemeClr val="dk1"/>
                </a:solidFill>
              </a:rPr>
              <a:t>(point to chart)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"Three groups. The middle group, Clip vs Trippy — exactly one bar crosses the threshold: RL, p = 0.02. Everything else: not significant."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to right group)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"And critically — Monet2 vs Trippy. The two synthetic stimuli. Never crosses threshold. In any area."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"The collapse from Experiment 1 wasn't an artifact of trial-averaging. It's real."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AGGIUSTARE PLOT!!!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ab26d7ba9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ab26d7ba9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"Two controls before we move on." </a:t>
            </a:r>
            <a:r>
              <a:rPr lang="en" i="1">
                <a:solidFill>
                  <a:schemeClr val="dk1"/>
                </a:solidFill>
              </a:rPr>
              <a:t>(brief pause)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left)</a:t>
            </a:r>
            <a:r>
              <a:rPr lang="en">
                <a:solidFill>
                  <a:schemeClr val="dk1"/>
                </a:solidFill>
              </a:rPr>
              <a:t> "First, population size. Euclidean distance grows mechanically with neuron count, so V1's larger raw distances could just be a population effect. We subsampled every area to AL's 414 neurons. After matching — every area collapses to the same band. Per neuron, V1 has no information advantage."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right)</a:t>
            </a:r>
            <a:r>
              <a:rPr lang="en">
                <a:solidFill>
                  <a:schemeClr val="dk1"/>
                </a:solidFill>
              </a:rPr>
              <a:t> "Second, trial count. Clip has 377 trials, the synthetics 38. We subsampled Clip to 38 to match — distances unchanged. The Clip-vs-synthetic distance isn't an artifact of trial-count asymmetry."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(beat, then drop the take-home tone)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"Both controls pass. The collapse is real. Linear methods hit a ceiling — even with the time axis."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(transition)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"So we asked one more question: does the method work </a:t>
            </a:r>
            <a:r>
              <a:rPr lang="en" i="1">
                <a:solidFill>
                  <a:schemeClr val="dk1"/>
                </a:solidFill>
              </a:rPr>
              <a:t>within</a:t>
            </a:r>
            <a:r>
              <a:rPr lang="en">
                <a:solidFill>
                  <a:schemeClr val="dk1"/>
                </a:solidFill>
              </a:rPr>
              <a:t> a class?"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ab26d7ba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ab26d7ba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"After Experiment 2, we asked: linear methods can't crack synthetic-vs-synthetic. But maybe they find structure within a class — </a:t>
            </a:r>
            <a:r>
              <a:rPr lang="en" i="1">
                <a:solidFill>
                  <a:schemeClr val="dk1"/>
                </a:solidFill>
              </a:rPr>
              <a:t>if</a:t>
            </a:r>
            <a:r>
              <a:rPr lang="en">
                <a:solidFill>
                  <a:schemeClr val="dk1"/>
                </a:solidFill>
              </a:rPr>
              <a:t> the categories are content-distinct enough."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to stills)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"Within Clip, MICrONS labels three sub-categories. Cinematic — clips from real movies, Mad Max, Star Wars, The Matrix. sports1m — basketball, cycling, athletics. And Rendered — synthetic 3D-engine output. No real cameras."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to grid)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"Same trajectory method, same statistical test. In every cortical area, all three pairs separate at p ≤ 0.02. PCA </a:t>
            </a:r>
            <a:r>
              <a:rPr lang="en" i="1">
                <a:solidFill>
                  <a:schemeClr val="dk1"/>
                </a:solidFill>
              </a:rPr>
              <a:t>does</a:t>
            </a:r>
            <a:r>
              <a:rPr lang="en">
                <a:solidFill>
                  <a:schemeClr val="dk1"/>
                </a:solidFill>
              </a:rPr>
              <a:t> recover content-level structure when categories are content-distinct enough."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(beat, then transition tone)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"But there's a twist."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ab26d7ba9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ab26d7ba9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"Our second within-Clip finding. We matched every area to AL's 414 neurons — so we're now comparing </a:t>
            </a:r>
            <a:r>
              <a:rPr lang="en" i="1">
                <a:solidFill>
                  <a:schemeClr val="dk1"/>
                </a:solidFill>
              </a:rPr>
              <a:t>per-neuron</a:t>
            </a:r>
            <a:r>
              <a:rPr lang="en">
                <a:solidFill>
                  <a:schemeClr val="dk1"/>
                </a:solidFill>
              </a:rPr>
              <a:t> signal, not raw population size."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to first group)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"On Cinematic versus sports1m — naturalistic against naturalistic — every area performs the same. No per-neuron advantage anywhere."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to groups two and three)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"But on Cinematic versus Rendered, and sports1m versus Rendered — both involving the synthetic category — AL clearly stands out. Per-neuron, AL is the only area with an advantage."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(beat)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"AL isn't sensitive to content category in general. It's sensitive to the naturalness boundary."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(short pause, then transition tone)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"Which, looking back, is the same boundary linear methods kept finding throughout this project."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ab26d7ba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ab26d7ba9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research question</a:t>
            </a:r>
            <a:r>
              <a:rPr lang="en">
                <a:solidFill>
                  <a:schemeClr val="dk1"/>
                </a:solidFill>
              </a:rPr>
              <a:t>"Stepping back. The headline finding: linear methods sense the naturalness boundary. They reliably distinguish naturalistic content from synthetic stimuli — and area AL specifically excels at this distinction at the per-neuron level. But for separating two synthetic textures from each other — Monet2 from Trippy — linear methods hit a ceiling, even with the time axis."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(brief pause, then move to limitations)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"Three limitations worth flagging."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"First — and most importantly — the linear ceiling itself. Non-linear structure may exist in the data that PCA can't reach. Methods like CEBRA — a contrastive non-linear embedding — or manifold approaches like UMAP are built exactly for this regime. They'd be the natural next step."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(point briefly to second row)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"Second, this is one session. Cross-session validation is needed before generalizing the AL finding."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chemeClr val="dk1"/>
                </a:solidFill>
              </a:rPr>
              <a:t>(third row)</a:t>
            </a:r>
            <a:endParaRPr i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"Third, our stimulus categories aren't matched on low-level image statistics — brightness, contrast, motion energy. Some of what we attribute to 'naturalness' could be those low-level features instead. Matched stimuli would be the cleanest control."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ab26d7ba9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ab26d7ba9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research question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ab26d7ba9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ab26d7ba9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title="paint-drops-black-background.jpg"/>
          <p:cNvPicPr preferRelativeResize="0"/>
          <p:nvPr/>
        </p:nvPicPr>
        <p:blipFill rotWithShape="1">
          <a:blip r:embed="rId2">
            <a:alphaModFix/>
          </a:blip>
          <a:srcRect t="14237"/>
          <a:stretch/>
        </p:blipFill>
        <p:spPr>
          <a:xfrm>
            <a:off x="-1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42900" y="342900"/>
            <a:ext cx="8458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back-1.jpg"/>
          <p:cNvPicPr preferRelativeResize="0"/>
          <p:nvPr/>
        </p:nvPicPr>
        <p:blipFill rotWithShape="1">
          <a:blip r:embed="rId2">
            <a:alphaModFix/>
          </a:blip>
          <a:srcRect r="28413" b="26172"/>
          <a:stretch/>
        </p:blipFill>
        <p:spPr>
          <a:xfrm>
            <a:off x="0" y="-13850"/>
            <a:ext cx="914400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back-2.jpg"/>
          <p:cNvPicPr preferRelativeResize="0"/>
          <p:nvPr/>
        </p:nvPicPr>
        <p:blipFill rotWithShape="1">
          <a:blip r:embed="rId2">
            <a:alphaModFix/>
          </a:blip>
          <a:srcRect l="1980" t="-1102"/>
          <a:stretch/>
        </p:blipFill>
        <p:spPr>
          <a:xfrm rot="10800000">
            <a:off x="3" y="-1"/>
            <a:ext cx="9143997" cy="516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nbounded Light"/>
              <a:buNone/>
              <a:defRPr sz="2600">
                <a:solidFill>
                  <a:schemeClr val="dk1"/>
                </a:solidFill>
                <a:latin typeface="Unbounded Light"/>
                <a:ea typeface="Unbounded Light"/>
                <a:cs typeface="Unbounded Light"/>
                <a:sym typeface="Unbounded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64" r:id="rId8"/>
    <p:sldLayoutId id="2147483665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euroscience-3d.netlify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>
            <a:spLocks noGrp="1"/>
          </p:cNvSpPr>
          <p:nvPr>
            <p:ph type="ctrTitle" idx="4294967295"/>
          </p:nvPr>
        </p:nvSpPr>
        <p:spPr>
          <a:xfrm>
            <a:off x="953100" y="804275"/>
            <a:ext cx="7237800" cy="25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latin typeface="Unbounded Black"/>
                <a:ea typeface="Unbounded Black"/>
                <a:cs typeface="Unbounded Black"/>
                <a:sym typeface="Unbounded Black"/>
              </a:rPr>
              <a:t>THE SHAPE OF A STIMULUS</a:t>
            </a:r>
            <a:endParaRPr sz="5500">
              <a:latin typeface="Unbounded Black"/>
              <a:ea typeface="Unbounded Black"/>
              <a:cs typeface="Unbounded Black"/>
              <a:sym typeface="Unbounded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Trajectory Geometry of Mouse V1 Population Activity</a:t>
            </a:r>
            <a:endParaRPr sz="2000">
              <a:latin typeface="Unbounded Light"/>
              <a:ea typeface="Unbounded Light"/>
              <a:cs typeface="Unbounded Light"/>
              <a:sym typeface="Unbounded Light"/>
            </a:endParaRPr>
          </a:p>
        </p:txBody>
      </p:sp>
      <p:sp>
        <p:nvSpPr>
          <p:cNvPr id="104" name="Google Shape;104;p24"/>
          <p:cNvSpPr txBox="1"/>
          <p:nvPr/>
        </p:nvSpPr>
        <p:spPr>
          <a:xfrm>
            <a:off x="7421297" y="4527670"/>
            <a:ext cx="13722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2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05" name="Google Shape;105;p24"/>
          <p:cNvSpPr txBox="1"/>
          <p:nvPr/>
        </p:nvSpPr>
        <p:spPr>
          <a:xfrm>
            <a:off x="506400" y="4260375"/>
            <a:ext cx="81312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30563 MATHEMATICAL MODELLING FOR NEUROSCIENCE Project</a:t>
            </a:r>
            <a:endParaRPr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06" name="Google Shape;106;p24"/>
          <p:cNvSpPr txBox="1"/>
          <p:nvPr/>
        </p:nvSpPr>
        <p:spPr>
          <a:xfrm>
            <a:off x="470575" y="4527675"/>
            <a:ext cx="804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Francesca Casillo, Alessandro Lombardi, Edoardo Panella, Federico Scaffidi Muta</a:t>
            </a:r>
            <a:endParaRPr sz="1200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/>
        </p:nvSpPr>
        <p:spPr>
          <a:xfrm>
            <a:off x="1387500" y="1605600"/>
            <a:ext cx="6369000" cy="19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0" marR="3810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 mouse watches three videos.</a:t>
            </a:r>
            <a:endParaRPr sz="2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381000" marR="3810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Do its neurons code them as three distinguishable population states?</a:t>
            </a:r>
            <a:endParaRPr sz="220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1015878" y="2834336"/>
            <a:ext cx="1578900" cy="3420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23200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1400" tIns="111400" rIns="111400" bIns="111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4" b="1" u="sng" dirty="0">
                <a:solidFill>
                  <a:schemeClr val="bg2"/>
                </a:solidFill>
                <a:latin typeface="Raleway"/>
                <a:ea typeface="Raleway"/>
                <a:cs typeface="Raleway"/>
                <a:sym typeface="Raleway"/>
              </a:rPr>
              <a:t>CLIP</a:t>
            </a:r>
            <a:endParaRPr sz="1484" b="1" u="sng" dirty="0">
              <a:solidFill>
                <a:schemeClr val="bg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635275" y="3273036"/>
            <a:ext cx="24822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111400" rIns="111400" bIns="1114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950"/>
              </a:spcAft>
              <a:buNone/>
            </a:pPr>
            <a:r>
              <a:rPr lang="en" sz="1484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Natural movie footage</a:t>
            </a:r>
            <a:endParaRPr sz="1484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3763175" y="2850238"/>
            <a:ext cx="1578900" cy="3420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23200" cap="flat" cmpd="sng">
            <a:solidFill>
              <a:srgbClr val="F472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1400" tIns="111400" rIns="111400" bIns="111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4" b="1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MONET2</a:t>
            </a:r>
            <a:endParaRPr sz="1484" b="1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9" name="Google Shape;119;p26"/>
          <p:cNvSpPr txBox="1"/>
          <p:nvPr/>
        </p:nvSpPr>
        <p:spPr>
          <a:xfrm>
            <a:off x="3330899" y="3279089"/>
            <a:ext cx="24822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111400" rIns="111400" bIns="1114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950"/>
              </a:spcAft>
              <a:buNone/>
            </a:pPr>
            <a:r>
              <a:rPr lang="en" sz="1484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Grey-scale textured noise</a:t>
            </a:r>
            <a:endParaRPr sz="1484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6549222" y="2829990"/>
            <a:ext cx="1578900" cy="3420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232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1400" tIns="111400" rIns="111400" bIns="111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84" b="1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TRIPPY</a:t>
            </a:r>
            <a:endParaRPr sz="1484" b="1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6097572" y="3273036"/>
            <a:ext cx="2482200" cy="4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111400" rIns="111400" bIns="1114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950"/>
              </a:spcAft>
              <a:buNone/>
            </a:pPr>
            <a:r>
              <a:rPr lang="en" sz="1484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Synthetic wave patterns</a:t>
            </a:r>
            <a:endParaRPr sz="1484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26"/>
          <p:cNvSpPr txBox="1"/>
          <p:nvPr/>
        </p:nvSpPr>
        <p:spPr>
          <a:xfrm>
            <a:off x="442325" y="267575"/>
            <a:ext cx="82206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Why this slice of MICrONS for this research question?</a:t>
            </a:r>
            <a:endParaRPr sz="200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922350" y="4071250"/>
            <a:ext cx="72993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FUNCTIONAL DATA · ~8,000 NEURONS RECORDED SIMULTANEOUSLY · 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· 4 CORTICAL AREAS · V1 · LM · RL · AL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A297075-B59D-E767-FC31-C2FE2181DB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275" y="1420844"/>
            <a:ext cx="2336800" cy="13081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642857-C2D1-D61D-7DD0-226205BE9A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5580" y="1420844"/>
            <a:ext cx="2252839" cy="13081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CD00A38-D450-B0B6-140F-F07718F22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1924" y="1450381"/>
            <a:ext cx="2297417" cy="12785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DB3708-DFF5-FAF8-EF42-523BFA65A1BE}"/>
              </a:ext>
            </a:extLst>
          </p:cNvPr>
          <p:cNvSpPr txBox="1"/>
          <p:nvPr/>
        </p:nvSpPr>
        <p:spPr>
          <a:xfrm>
            <a:off x="2086252" y="2974019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/>
        </p:nvSpPr>
        <p:spPr>
          <a:xfrm>
            <a:off x="760000" y="283050"/>
            <a:ext cx="82206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Session choice and trial structure</a:t>
            </a:r>
            <a:endParaRPr sz="2000" dirty="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1125125" y="4277850"/>
            <a:ext cx="68550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SESSION 7_5 · |z| ≤ 1.31 ACROSS ALL METRICS · 8,194 NEURONS (COHORT MEDIAN: 8,176) 453 TRIALS · 377 CLIP · 38 MONET2 · 38 TRIPPY · INTERLEAVED</a:t>
            </a:r>
            <a:endParaRPr b="1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980B8E-0091-95B5-A379-FC2A679DE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00" y="1052317"/>
            <a:ext cx="7772400" cy="304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"/>
          <p:cNvSpPr txBox="1"/>
          <p:nvPr/>
        </p:nvSpPr>
        <p:spPr>
          <a:xfrm>
            <a:off x="652775" y="277800"/>
            <a:ext cx="82206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Preprocessing techniques</a:t>
            </a:r>
            <a:endParaRPr sz="200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  <p:sp>
        <p:nvSpPr>
          <p:cNvPr id="139" name="Google Shape;139;p28"/>
          <p:cNvSpPr txBox="1"/>
          <p:nvPr/>
        </p:nvSpPr>
        <p:spPr>
          <a:xfrm>
            <a:off x="1316400" y="4518083"/>
            <a:ext cx="65112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PIPELINE: OUTLIER FILTER → LINEAR DETREND → PER-NEURON Z-SCORE</a:t>
            </a:r>
            <a:endParaRPr b="1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1297025" y="3813418"/>
            <a:ext cx="27033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Running influences V1 — 11 outlier trials removed (2.4%)</a:t>
            </a: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5774802" y="3798526"/>
            <a:ext cx="23580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Photobleaching — linear detrend per trial</a:t>
            </a: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B25911A-9B60-364F-A5A0-110D6CA3A3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5819" y="830115"/>
            <a:ext cx="3986153" cy="296841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00A51B6-77B0-67E4-E0B6-10D834E76D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57" y="830115"/>
            <a:ext cx="3986153" cy="29684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/>
        </p:nvSpPr>
        <p:spPr>
          <a:xfrm>
            <a:off x="652775" y="277800"/>
            <a:ext cx="82206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Experiment 1: trial-mean PCA</a:t>
            </a:r>
            <a:endParaRPr sz="200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  <p:sp>
        <p:nvSpPr>
          <p:cNvPr id="151" name="Google Shape;151;p29"/>
          <p:cNvSpPr txBox="1"/>
          <p:nvPr/>
        </p:nvSpPr>
        <p:spPr>
          <a:xfrm>
            <a:off x="1355305" y="3913579"/>
            <a:ext cx="2644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 dirty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 = 453 trials · 5,485 neurons · top 3 PCs</a:t>
            </a: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4769375" y="12595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i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each trial → mean activity vector → PCA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4769375" y="1646263"/>
            <a:ext cx="748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BUT</a:t>
            </a:r>
            <a:endParaRPr>
              <a:solidFill>
                <a:schemeClr val="lt2"/>
              </a:solidFill>
              <a:latin typeface="Unbounded Black"/>
              <a:ea typeface="Unbounded Black"/>
              <a:cs typeface="Unbounded Black"/>
              <a:sym typeface="Unbounded Black"/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4769375" y="2019300"/>
            <a:ext cx="21024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Unbounded Black"/>
                <a:ea typeface="Unbounded Black"/>
                <a:cs typeface="Unbounded Black"/>
                <a:sym typeface="Unbounded Black"/>
              </a:rPr>
              <a:t>98.9%</a:t>
            </a:r>
            <a:endParaRPr sz="3200">
              <a:solidFill>
                <a:schemeClr val="dk1"/>
              </a:solidFill>
              <a:latin typeface="Unbounded Black"/>
              <a:ea typeface="Unbounded Black"/>
              <a:cs typeface="Unbounded Black"/>
              <a:sym typeface="Unbounded Black"/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4769375" y="2658313"/>
            <a:ext cx="36918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classifier accuracy on the same trial-mean vectors</a:t>
            </a:r>
            <a:endParaRPr sz="12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majority baseline: 83.2%</a:t>
            </a:r>
            <a:endParaRPr i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4769375" y="3412313"/>
            <a:ext cx="27012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LM 98.0% · RL 97.8% · AL 94.7%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2132850" y="4316000"/>
            <a:ext cx="4878300" cy="5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 SIGNAL IS THERE. PCA ISN'T ALIGNED WITH IT.</a:t>
            </a:r>
            <a:endParaRPr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" name="Picture 14">
            <a:hlinkClick r:id="rId3"/>
            <a:extLst>
              <a:ext uri="{FF2B5EF4-FFF2-40B4-BE49-F238E27FC236}">
                <a16:creationId xmlns:a16="http://schemas.microsoft.com/office/drawing/2014/main" id="{3D7E189E-AC50-33BE-FB8B-B71DBCB8F2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87" r="28117"/>
          <a:stretch>
            <a:fillRect/>
          </a:stretch>
        </p:blipFill>
        <p:spPr>
          <a:xfrm>
            <a:off x="830752" y="890487"/>
            <a:ext cx="3470200" cy="30230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/>
        </p:nvSpPr>
        <p:spPr>
          <a:xfrm>
            <a:off x="418350" y="45454"/>
            <a:ext cx="83073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Experiment 2:</a:t>
            </a:r>
            <a:r>
              <a:rPr lang="en" sz="2000" dirty="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 </a:t>
            </a:r>
            <a:endParaRPr sz="2000" dirty="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Trial-averaged trajectories - projected into PC space</a:t>
            </a:r>
            <a:endParaRPr sz="1900" dirty="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  <p:sp>
        <p:nvSpPr>
          <p:cNvPr id="163" name="Google Shape;163;p30"/>
          <p:cNvSpPr txBox="1"/>
          <p:nvPr/>
        </p:nvSpPr>
        <p:spPr>
          <a:xfrm>
            <a:off x="1777825" y="4282750"/>
            <a:ext cx="54450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i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Three separated blobs in every area</a:t>
            </a:r>
            <a:endParaRPr sz="1650" i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BUT IS THE SEPARATION REAL?</a:t>
            </a:r>
            <a:endParaRPr sz="180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889764D-7761-E44F-487A-7E775094C4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9122" y="883599"/>
            <a:ext cx="5962405" cy="3376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/>
        </p:nvSpPr>
        <p:spPr>
          <a:xfrm>
            <a:off x="652775" y="277800"/>
            <a:ext cx="82206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Biased: PCA fit on real-label trial averages, then shuffled data projected through the same PCs honest test: full feature space · no projection · all neurons</a:t>
            </a:r>
            <a:endParaRPr sz="1600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70" name="Google Shape;170;p31"/>
          <p:cNvSpPr txBox="1"/>
          <p:nvPr/>
        </p:nvSpPr>
        <p:spPr>
          <a:xfrm>
            <a:off x="1714050" y="4296950"/>
            <a:ext cx="57159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1650" i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Monet2 </a:t>
            </a:r>
            <a:r>
              <a:rPr lang="en-IT" sz="1800" dirty="0">
                <a:solidFill>
                  <a:schemeClr val="bg2"/>
                </a:solidFill>
                <a:latin typeface="Raleway" pitchFamily="2" charset="77"/>
              </a:rPr>
              <a:t>⇔</a:t>
            </a:r>
            <a:r>
              <a:rPr lang="en" sz="1650" i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Trippy never reliably separates in any area</a:t>
            </a:r>
            <a:endParaRPr sz="1650" i="1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 THE COLLAPSE PERSISTS</a:t>
            </a:r>
            <a:endParaRPr sz="1600" i="1" dirty="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57D0768-E16C-6AD7-5A00-A7442CFE0D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801" y="951221"/>
            <a:ext cx="7446397" cy="32410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/>
        </p:nvSpPr>
        <p:spPr>
          <a:xfrm>
            <a:off x="2103750" y="413325"/>
            <a:ext cx="49365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Two controls—both pass</a:t>
            </a:r>
            <a:endParaRPr sz="2200" b="1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320250" y="986187"/>
            <a:ext cx="48648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V1's apparent lead vanishes after matching neuron count.</a:t>
            </a:r>
            <a:endParaRPr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2752650" y="4362500"/>
            <a:ext cx="363870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Linear methods hit a ceiling</a:t>
            </a: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even with the time axis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678400" y="1989075"/>
            <a:ext cx="3264000" cy="17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TRIAL-COUNT CONTROL</a:t>
            </a:r>
            <a:endParaRPr b="1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Clip subsampled to 38 trials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(matched to Monet2 / Trippy)</a:t>
            </a:r>
            <a:endParaRPr i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DISTANCES UNCHANGED</a:t>
            </a:r>
            <a:endParaRPr b="1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Robust to trial-count asymmetry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016E1F-67ED-9EB1-C7A5-C25258973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800" y="1574037"/>
            <a:ext cx="5240572" cy="25832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/>
        </p:nvSpPr>
        <p:spPr>
          <a:xfrm>
            <a:off x="652775" y="277800"/>
            <a:ext cx="8220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Experiment 3: same method—zoomed inside Clip</a:t>
            </a:r>
            <a:endParaRPr sz="200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3025025" y="4378500"/>
            <a:ext cx="5136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Three sub-categories separate in every area with p ≤ 0.02</a:t>
            </a:r>
            <a:endParaRPr sz="1500" i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BUT IS ONE AREA SPECIAL?</a:t>
            </a:r>
            <a:endParaRPr sz="1600" b="1" i="1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" name="Google Shape;116;p26">
            <a:extLst>
              <a:ext uri="{FF2B5EF4-FFF2-40B4-BE49-F238E27FC236}">
                <a16:creationId xmlns:a16="http://schemas.microsoft.com/office/drawing/2014/main" id="{B892AC60-52DC-E88A-BC65-F51AA2703D61}"/>
              </a:ext>
            </a:extLst>
          </p:cNvPr>
          <p:cNvSpPr/>
          <p:nvPr/>
        </p:nvSpPr>
        <p:spPr>
          <a:xfrm>
            <a:off x="771275" y="2034099"/>
            <a:ext cx="1251008" cy="131501"/>
          </a:xfrm>
          <a:prstGeom prst="roundRect">
            <a:avLst>
              <a:gd name="adj" fmla="val 50000"/>
            </a:avLst>
          </a:prstGeom>
          <a:solidFill>
            <a:srgbClr val="D55E00"/>
          </a:solidFill>
          <a:ln w="23200" cap="flat" cmpd="sng">
            <a:solidFill>
              <a:srgbClr val="D55E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1400" tIns="111400" rIns="111400" bIns="111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bg2"/>
                </a:solidFill>
                <a:latin typeface="Raleway"/>
                <a:ea typeface="Raleway"/>
                <a:cs typeface="Raleway"/>
                <a:sym typeface="Raleway"/>
              </a:rPr>
              <a:t>Cinematic</a:t>
            </a:r>
            <a:endParaRPr sz="1100" b="1" dirty="0">
              <a:solidFill>
                <a:schemeClr val="bg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" name="Google Shape;116;p26">
            <a:extLst>
              <a:ext uri="{FF2B5EF4-FFF2-40B4-BE49-F238E27FC236}">
                <a16:creationId xmlns:a16="http://schemas.microsoft.com/office/drawing/2014/main" id="{FC873341-FEB7-C85C-3C46-E42D41B402C5}"/>
              </a:ext>
            </a:extLst>
          </p:cNvPr>
          <p:cNvSpPr/>
          <p:nvPr/>
        </p:nvSpPr>
        <p:spPr>
          <a:xfrm>
            <a:off x="771275" y="3272429"/>
            <a:ext cx="1251008" cy="131501"/>
          </a:xfrm>
          <a:prstGeom prst="roundRect">
            <a:avLst>
              <a:gd name="adj" fmla="val 50000"/>
            </a:avLst>
          </a:prstGeom>
          <a:solidFill>
            <a:srgbClr val="56B4E9"/>
          </a:solidFill>
          <a:ln w="23200" cap="flat" cmpd="sng">
            <a:solidFill>
              <a:srgbClr val="56B4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1400" tIns="111400" rIns="111400" bIns="111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bg2"/>
                </a:solidFill>
                <a:latin typeface="Raleway"/>
                <a:ea typeface="Raleway"/>
                <a:cs typeface="Raleway"/>
                <a:sym typeface="Raleway"/>
              </a:rPr>
              <a:t>sport1m</a:t>
            </a:r>
            <a:endParaRPr sz="1484" b="1" dirty="0">
              <a:solidFill>
                <a:schemeClr val="bg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" name="Google Shape;116;p26">
            <a:extLst>
              <a:ext uri="{FF2B5EF4-FFF2-40B4-BE49-F238E27FC236}">
                <a16:creationId xmlns:a16="http://schemas.microsoft.com/office/drawing/2014/main" id="{C7C79107-893C-2096-5A80-333048F0F7EC}"/>
              </a:ext>
            </a:extLst>
          </p:cNvPr>
          <p:cNvSpPr/>
          <p:nvPr/>
        </p:nvSpPr>
        <p:spPr>
          <a:xfrm>
            <a:off x="779221" y="4577049"/>
            <a:ext cx="1251008" cy="131501"/>
          </a:xfrm>
          <a:prstGeom prst="roundRect">
            <a:avLst>
              <a:gd name="adj" fmla="val 50000"/>
            </a:avLst>
          </a:prstGeom>
          <a:solidFill>
            <a:srgbClr val="CC79A7"/>
          </a:solidFill>
          <a:ln w="23200" cap="flat" cmpd="sng">
            <a:solidFill>
              <a:srgbClr val="CC79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1400" tIns="111400" rIns="111400" bIns="1114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bg2"/>
                </a:solidFill>
                <a:latin typeface="Raleway"/>
                <a:ea typeface="Raleway"/>
                <a:cs typeface="Raleway"/>
                <a:sym typeface="Raleway"/>
              </a:rPr>
              <a:t>Rendered</a:t>
            </a:r>
            <a:endParaRPr sz="1100" b="1" dirty="0">
              <a:solidFill>
                <a:schemeClr val="bg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AE834DF-B01E-9846-CB3F-AD33E0388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629" y="3558924"/>
            <a:ext cx="1638300" cy="91709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35A852F-C1C4-3865-5B35-46AFD714B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629" y="982038"/>
            <a:ext cx="1638300" cy="917091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D5AA904-73EF-4BFB-C31F-72BB296450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898" y="2264697"/>
            <a:ext cx="1638301" cy="91709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9D9D42C-E3CC-EBA4-F68B-84F34B9BF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87887" y="982038"/>
            <a:ext cx="5778484" cy="32721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/>
        </p:nvSpPr>
        <p:spPr>
          <a:xfrm>
            <a:off x="645650" y="277800"/>
            <a:ext cx="8220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After population matching – per-neuron signal</a:t>
            </a:r>
            <a:endParaRPr sz="1800">
              <a:solidFill>
                <a:schemeClr val="dk1"/>
              </a:solidFill>
              <a:latin typeface="Unbounded ExtraBold"/>
              <a:ea typeface="Unbounded ExtraBold"/>
              <a:cs typeface="Unbounded ExtraBold"/>
              <a:sym typeface="Unbounded ExtraBold"/>
            </a:endParaRPr>
          </a:p>
        </p:txBody>
      </p:sp>
      <p:sp>
        <p:nvSpPr>
          <p:cNvPr id="200" name="Google Shape;200;p34"/>
          <p:cNvSpPr txBox="1"/>
          <p:nvPr/>
        </p:nvSpPr>
        <p:spPr>
          <a:xfrm>
            <a:off x="1822000" y="4180975"/>
            <a:ext cx="60471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AL is a naturalness detector, the same axis Experiment 2 found.</a:t>
            </a: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AL detects artificiality, not the category.</a:t>
            </a:r>
            <a:endParaRPr i="1">
              <a:solidFill>
                <a:schemeClr val="dk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 same boundary, again.</a:t>
            </a:r>
            <a:endParaRPr sz="17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921752B-E1E7-7835-5267-A5278C0188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5194" y="935713"/>
            <a:ext cx="6521511" cy="32092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/>
        </p:nvSpPr>
        <p:spPr>
          <a:xfrm>
            <a:off x="1319700" y="3582025"/>
            <a:ext cx="6504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Linear methods sense the naturalness boundary </a:t>
            </a:r>
            <a:endParaRPr sz="1600" b="1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rPr>
              <a:t>but hit a ceiling for synthetic vs. synthetic</a:t>
            </a:r>
            <a:endParaRPr sz="1600" b="1"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06" name="Google Shape;206;p35"/>
          <p:cNvSpPr txBox="1"/>
          <p:nvPr/>
        </p:nvSpPr>
        <p:spPr>
          <a:xfrm>
            <a:off x="853600" y="992325"/>
            <a:ext cx="2271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2DD4BF"/>
                </a:solidFill>
                <a:latin typeface="Unbounded"/>
                <a:ea typeface="Unbounded"/>
                <a:cs typeface="Unbounded"/>
                <a:sym typeface="Unbounded"/>
              </a:rPr>
              <a:t>LIMITATIONS</a:t>
            </a:r>
            <a:endParaRPr b="1" u="sng">
              <a:solidFill>
                <a:srgbClr val="2DD4BF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07" name="Google Shape;207;p35"/>
          <p:cNvSpPr txBox="1"/>
          <p:nvPr/>
        </p:nvSpPr>
        <p:spPr>
          <a:xfrm>
            <a:off x="4932675" y="1024425"/>
            <a:ext cx="26433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accent1"/>
                </a:solidFill>
                <a:latin typeface="Unbounded"/>
                <a:ea typeface="Unbounded"/>
                <a:cs typeface="Unbounded"/>
                <a:sym typeface="Unbounded"/>
              </a:rPr>
              <a:t>WHAT COMES NEXT</a:t>
            </a:r>
            <a:endParaRPr b="1" u="sng">
              <a:solidFill>
                <a:schemeClr val="accent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310675" y="1613825"/>
            <a:ext cx="3900600" cy="15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Linear methods may miss non-linear structure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Single session (7_5) - cohort generalization untested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Connectomics unused – structural link untested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9" name="Google Shape;209;p35"/>
          <p:cNvSpPr txBox="1"/>
          <p:nvPr/>
        </p:nvSpPr>
        <p:spPr>
          <a:xfrm>
            <a:off x="4546925" y="1613825"/>
            <a:ext cx="4286400" cy="16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Alternative methods: </a:t>
            </a:r>
            <a:r>
              <a:rPr lang="en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CEBRA or MANIFOLD EMBEDDINGS</a:t>
            </a:r>
            <a:r>
              <a:rPr lang="en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</a:pPr>
            <a:r>
              <a:rPr lang="en" i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designed for exactly this regime</a:t>
            </a:r>
            <a:endParaRPr i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Cross-session replication</a:t>
            </a:r>
            <a:endParaRPr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</a:pPr>
            <a:r>
              <a:rPr lang="en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Functional ↔ structural link</a:t>
            </a:r>
            <a:endParaRPr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</a:pP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i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use the connectome to test whether</a:t>
            </a:r>
            <a:r>
              <a:rPr lang="en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i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functional clusters reflect wiring</a:t>
            </a:r>
            <a:endParaRPr i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/>
        </p:nvSpPr>
        <p:spPr>
          <a:xfrm>
            <a:off x="1387500" y="2245500"/>
            <a:ext cx="63690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Unbounded ExtraBold"/>
                <a:ea typeface="Unbounded ExtraBold"/>
                <a:cs typeface="Unbounded ExtraBold"/>
                <a:sym typeface="Unbounded ExtraBold"/>
              </a:rPr>
              <a:t>Any questions?</a:t>
            </a:r>
            <a:endParaRPr>
              <a:solidFill>
                <a:schemeClr val="dk1"/>
              </a:solidFill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>
            <a:spLocks noGrp="1"/>
          </p:cNvSpPr>
          <p:nvPr>
            <p:ph type="title"/>
          </p:nvPr>
        </p:nvSpPr>
        <p:spPr>
          <a:xfrm>
            <a:off x="2154600" y="2105700"/>
            <a:ext cx="4834800" cy="9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latin typeface="Unbounded Black"/>
                <a:ea typeface="Unbounded Black"/>
                <a:cs typeface="Unbounded Black"/>
                <a:sym typeface="Unbounded Black"/>
              </a:rPr>
              <a:t>THANK</a:t>
            </a:r>
            <a:r>
              <a:rPr lang="en" sz="4500"/>
              <a:t> </a:t>
            </a:r>
            <a:r>
              <a:rPr lang="en" sz="4500" b="1">
                <a:latin typeface="Unbounded"/>
                <a:ea typeface="Unbounded"/>
                <a:cs typeface="Unbounded"/>
                <a:sym typeface="Unbounded"/>
              </a:rPr>
              <a:t>YOU!</a:t>
            </a:r>
            <a:endParaRPr sz="4500" b="1">
              <a:latin typeface="Unbounded"/>
              <a:ea typeface="Unbounded"/>
              <a:cs typeface="Unbounded"/>
              <a:sym typeface="Unbounde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ure Technology Trends by Slidesgo">
  <a:themeElements>
    <a:clrScheme name="Simple Light">
      <a:dk1>
        <a:srgbClr val="FFFFFF"/>
      </a:dk1>
      <a:lt1>
        <a:srgbClr val="0B0F1A"/>
      </a:lt1>
      <a:dk2>
        <a:srgbClr val="FFFFFF"/>
      </a:dk2>
      <a:lt2>
        <a:srgbClr val="2DD4BF"/>
      </a:lt2>
      <a:accent1>
        <a:srgbClr val="2DD4B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2013</Words>
  <Application>Microsoft Macintosh PowerPoint</Application>
  <PresentationFormat>On-screen Show (16:9)</PresentationFormat>
  <Paragraphs>135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Unbounded</vt:lpstr>
      <vt:lpstr>Raleway ExtraBold</vt:lpstr>
      <vt:lpstr>Unbounded Black</vt:lpstr>
      <vt:lpstr>Inter</vt:lpstr>
      <vt:lpstr>Unbounded ExtraBold</vt:lpstr>
      <vt:lpstr>Raleway</vt:lpstr>
      <vt:lpstr>Unbounded Light</vt:lpstr>
      <vt:lpstr>Arial</vt:lpstr>
      <vt:lpstr>Future Technology Trends by Slidesgo</vt:lpstr>
      <vt:lpstr>THE SHAPE OF A STIMULUS Trajectory Geometry of Mouse V1 Population 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Associazione Studentesca Hephaestus Applied Artificial Intelligence Association</cp:lastModifiedBy>
  <cp:revision>3</cp:revision>
  <dcterms:modified xsi:type="dcterms:W3CDTF">2026-05-10T21:28:16Z</dcterms:modified>
</cp:coreProperties>
</file>